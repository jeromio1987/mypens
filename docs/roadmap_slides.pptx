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41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326"/>
          </a:solidFill>
          <a:ln w="12700">
            <a:solidFill>
              <a:srgbClr val="04132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086600" y="0"/>
            <a:ext cx="5105095" cy="6858000"/>
          </a:xfrm>
          <a:prstGeom prst="rect">
            <a:avLst/>
          </a:prstGeom>
          <a:solidFill>
            <a:srgbClr val="071A33"/>
          </a:solidFill>
          <a:ln w="12700">
            <a:solidFill>
              <a:srgbClr val="071A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1024128"/>
            <a:ext cx="1874520" cy="0"/>
          </a:xfrm>
          <a:prstGeom prst="line">
            <a:avLst/>
          </a:prstGeom>
          <a:noFill/>
          <a:ln w="12700">
            <a:solidFill>
              <a:srgbClr val="12D2FF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28232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F90A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28232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F90A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6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MY PENS – Multidimensional roadmap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58368" y="768096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B9C5D9"/>
                </a:solidFill>
              </a:rPr>
              <a:t>A clean sequencing plan across development, mobile, legal, branding, design and integrations.</a:t>
            </a:r>
            <a:endParaRPr lang="en-US" sz="1140" dirty="0"/>
          </a:p>
        </p:txBody>
      </p:sp>
      <p:sp>
        <p:nvSpPr>
          <p:cNvPr id="4" name="Text 2"/>
          <p:cNvSpPr/>
          <p:nvPr/>
        </p:nvSpPr>
        <p:spPr>
          <a:xfrm>
            <a:off x="658368" y="1335024"/>
            <a:ext cx="4343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6FAFF"/>
                </a:solidFill>
              </a:rPr>
              <a:t>Build one product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6FAFF"/>
                </a:solidFill>
              </a:rPr>
              <a:t>with two depths.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58368" y="2084832"/>
            <a:ext cx="493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dirty="0">
                <a:solidFill>
                  <a:srgbClr val="B9C5D9"/>
                </a:solidFill>
              </a:rPr>
              <a:t>Simple by default for ordinary trackers. Deeper controls for users who care about privacy, local control and richer interpretation.</a:t>
            </a:r>
            <a:endParaRPr lang="en-US" sz="1360" dirty="0"/>
          </a:p>
        </p:txBody>
      </p:sp>
      <p:sp>
        <p:nvSpPr>
          <p:cNvPr id="6" name="Shape 4"/>
          <p:cNvSpPr/>
          <p:nvPr/>
        </p:nvSpPr>
        <p:spPr>
          <a:xfrm>
            <a:off x="658368" y="2743200"/>
            <a:ext cx="2331720" cy="2267712"/>
          </a:xfrm>
          <a:prstGeom prst="roundRect">
            <a:avLst>
              <a:gd name="adj" fmla="val 3226"/>
            </a:avLst>
          </a:prstGeom>
          <a:solidFill>
            <a:srgbClr val="0B1E3D">
              <a:alpha val="88000"/>
            </a:srgbClr>
          </a:solidFill>
          <a:ln w="12700">
            <a:solidFill>
              <a:srgbClr val="24436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1228" y="2816352"/>
            <a:ext cx="36576" cy="2121408"/>
          </a:xfrm>
          <a:prstGeom prst="rect">
            <a:avLst/>
          </a:prstGeom>
          <a:solidFill>
            <a:srgbClr val="12D2FF"/>
          </a:solidFill>
          <a:ln w="12700">
            <a:solidFill>
              <a:srgbClr val="12D2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" y="2962656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10" b="1" dirty="0">
                <a:solidFill>
                  <a:srgbClr val="12D2FF"/>
                </a:solidFill>
              </a:rPr>
              <a:t>North star</a:t>
            </a:r>
            <a:endParaRPr lang="en-US" sz="1210" dirty="0"/>
          </a:p>
        </p:txBody>
      </p:sp>
      <p:sp>
        <p:nvSpPr>
          <p:cNvPr id="9" name="Text 7"/>
          <p:cNvSpPr/>
          <p:nvPr/>
        </p:nvSpPr>
        <p:spPr>
          <a:xfrm>
            <a:off x="859536" y="3236976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b="1" dirty="0">
                <a:solidFill>
                  <a:srgbClr val="F6FAFF"/>
                </a:solidFill>
              </a:rPr>
              <a:t>Become the trusted interpretation layer between raw trackers and everyday users.</a:t>
            </a:r>
            <a:endParaRPr lang="en-US" sz="1620" dirty="0"/>
          </a:p>
        </p:txBody>
      </p:sp>
      <p:sp>
        <p:nvSpPr>
          <p:cNvPr id="10" name="Text 8"/>
          <p:cNvSpPr/>
          <p:nvPr/>
        </p:nvSpPr>
        <p:spPr>
          <a:xfrm>
            <a:off x="859536" y="4151376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B9C5D9"/>
                </a:solidFill>
              </a:rPr>
              <a:t>• Explain weight noise clearly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B9C5D9"/>
                </a:solidFill>
              </a:rPr>
              <a:t>• Reduce friction to track daily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B9C5D9"/>
                </a:solidFill>
              </a:rPr>
              <a:t>• Earn trust before breadth</a:t>
            </a:r>
            <a:endParaRPr lang="en-US" sz="1110" dirty="0"/>
          </a:p>
        </p:txBody>
      </p:sp>
      <p:sp>
        <p:nvSpPr>
          <p:cNvPr id="11" name="Shape 9"/>
          <p:cNvSpPr/>
          <p:nvPr/>
        </p:nvSpPr>
        <p:spPr>
          <a:xfrm>
            <a:off x="3191256" y="2743200"/>
            <a:ext cx="2331720" cy="2267712"/>
          </a:xfrm>
          <a:prstGeom prst="roundRect">
            <a:avLst>
              <a:gd name="adj" fmla="val 3226"/>
            </a:avLst>
          </a:prstGeom>
          <a:solidFill>
            <a:srgbClr val="0B1E3D">
              <a:alpha val="88000"/>
            </a:srgbClr>
          </a:solidFill>
          <a:ln w="12700">
            <a:solidFill>
              <a:srgbClr val="24436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14116" y="2816352"/>
            <a:ext cx="36576" cy="2121408"/>
          </a:xfrm>
          <a:prstGeom prst="rect">
            <a:avLst/>
          </a:prstGeom>
          <a:solidFill>
            <a:srgbClr val="F1C84B"/>
          </a:solidFill>
          <a:ln w="12700">
            <a:solidFill>
              <a:srgbClr val="F1C84B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92424" y="2962656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10" b="1" dirty="0">
                <a:solidFill>
                  <a:srgbClr val="F1C84B"/>
                </a:solidFill>
              </a:rPr>
              <a:t>Target user</a:t>
            </a:r>
            <a:endParaRPr lang="en-US" sz="1210" dirty="0"/>
          </a:p>
        </p:txBody>
      </p:sp>
      <p:sp>
        <p:nvSpPr>
          <p:cNvPr id="14" name="Text 12"/>
          <p:cNvSpPr/>
          <p:nvPr/>
        </p:nvSpPr>
        <p:spPr>
          <a:xfrm>
            <a:off x="3392424" y="3236976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70" b="1" dirty="0">
                <a:solidFill>
                  <a:srgbClr val="F6FAFF"/>
                </a:solidFill>
              </a:rPr>
              <a:t>Ordinary people who like tracking, plus slightly sportive users who want signal, not jargon.</a:t>
            </a:r>
            <a:endParaRPr lang="en-US" sz="1570" dirty="0"/>
          </a:p>
        </p:txBody>
      </p:sp>
      <p:sp>
        <p:nvSpPr>
          <p:cNvPr id="15" name="Text 13"/>
          <p:cNvSpPr/>
          <p:nvPr/>
        </p:nvSpPr>
        <p:spPr>
          <a:xfrm>
            <a:off x="3392424" y="4151376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B9C5D9"/>
                </a:solidFill>
              </a:rPr>
              <a:t>• Not hardcore biohackers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B9C5D9"/>
                </a:solidFill>
              </a:rPr>
              <a:t>• Not a broad wellness feed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B9C5D9"/>
                </a:solidFill>
              </a:rPr>
              <a:t>• A premium daily utility</a:t>
            </a:r>
            <a:endParaRPr lang="en-US" sz="1110" dirty="0"/>
          </a:p>
        </p:txBody>
      </p:sp>
      <p:sp>
        <p:nvSpPr>
          <p:cNvPr id="16" name="Shape 14"/>
          <p:cNvSpPr/>
          <p:nvPr/>
        </p:nvSpPr>
        <p:spPr>
          <a:xfrm>
            <a:off x="5724144" y="2743200"/>
            <a:ext cx="2331720" cy="2267712"/>
          </a:xfrm>
          <a:prstGeom prst="roundRect">
            <a:avLst>
              <a:gd name="adj" fmla="val 3226"/>
            </a:avLst>
          </a:prstGeom>
          <a:solidFill>
            <a:srgbClr val="0B1E3D">
              <a:alpha val="88000"/>
            </a:srgbClr>
          </a:solidFill>
          <a:ln w="12700">
            <a:solidFill>
              <a:srgbClr val="24436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747004" y="2816352"/>
            <a:ext cx="36576" cy="2121408"/>
          </a:xfrm>
          <a:prstGeom prst="rect">
            <a:avLst/>
          </a:prstGeom>
          <a:solidFill>
            <a:srgbClr val="31F0C7"/>
          </a:solidFill>
          <a:ln w="12700">
            <a:solidFill>
              <a:srgbClr val="31F0C7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25312" y="2962656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10" b="1" dirty="0">
                <a:solidFill>
                  <a:srgbClr val="31F0C7"/>
                </a:solidFill>
              </a:rPr>
              <a:t>Sequencing rule</a:t>
            </a:r>
            <a:endParaRPr lang="en-US" sz="1210" dirty="0"/>
          </a:p>
        </p:txBody>
      </p:sp>
      <p:sp>
        <p:nvSpPr>
          <p:cNvPr id="19" name="Text 17"/>
          <p:cNvSpPr/>
          <p:nvPr/>
        </p:nvSpPr>
        <p:spPr>
          <a:xfrm>
            <a:off x="5925312" y="3236976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30" b="1" dirty="0">
                <a:solidFill>
                  <a:srgbClr val="F6FAFF"/>
                </a:solidFill>
              </a:rPr>
              <a:t>Trust first. Convenience second. Scale third.</a:t>
            </a:r>
            <a:endParaRPr lang="en-US" sz="1630" dirty="0"/>
          </a:p>
        </p:txBody>
      </p:sp>
      <p:sp>
        <p:nvSpPr>
          <p:cNvPr id="20" name="Text 18"/>
          <p:cNvSpPr/>
          <p:nvPr/>
        </p:nvSpPr>
        <p:spPr>
          <a:xfrm>
            <a:off x="5925312" y="3877056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B9C5D9"/>
                </a:solidFill>
              </a:rPr>
              <a:t>• Do not split into two apps yet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B9C5D9"/>
                </a:solidFill>
              </a:rPr>
              <a:t>• Keep one canonical data model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B9C5D9"/>
                </a:solidFill>
              </a:rPr>
              <a:t>• Add hosted sync after proof</a:t>
            </a:r>
            <a:endParaRPr lang="en-US" sz="1110" dirty="0"/>
          </a:p>
        </p:txBody>
      </p:sp>
      <p:sp>
        <p:nvSpPr>
          <p:cNvPr id="21" name="Shape 19"/>
          <p:cNvSpPr/>
          <p:nvPr/>
        </p:nvSpPr>
        <p:spPr>
          <a:xfrm>
            <a:off x="8394192" y="1261872"/>
            <a:ext cx="3127248" cy="4553712"/>
          </a:xfrm>
          <a:prstGeom prst="roundRect">
            <a:avLst>
              <a:gd name="adj" fmla="val 2339"/>
            </a:avLst>
          </a:prstGeom>
          <a:solidFill>
            <a:srgbClr val="0B1E3D">
              <a:alpha val="88000"/>
            </a:srgbClr>
          </a:solidFill>
          <a:ln w="12700">
            <a:solidFill>
              <a:srgbClr val="24436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417052" y="1335024"/>
            <a:ext cx="36576" cy="4407408"/>
          </a:xfrm>
          <a:prstGeom prst="rect">
            <a:avLst/>
          </a:prstGeom>
          <a:solidFill>
            <a:srgbClr val="FF5DB7"/>
          </a:solidFill>
          <a:ln w="12700">
            <a:solidFill>
              <a:srgbClr val="FF5DB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13648" y="157276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5DB7"/>
                </a:solidFill>
              </a:rPr>
              <a:t>Roadmap architecture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613648" y="1901952"/>
            <a:ext cx="2487168" cy="530352"/>
          </a:xfrm>
          <a:prstGeom prst="roundRect">
            <a:avLst>
              <a:gd name="adj" fmla="val 6897"/>
            </a:avLst>
          </a:prstGeom>
          <a:solidFill>
            <a:srgbClr val="0D2548"/>
          </a:solidFill>
          <a:ln w="12700">
            <a:solidFill>
              <a:srgbClr val="12D2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759952" y="1975104"/>
            <a:ext cx="1874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12D2FF"/>
                </a:solidFill>
              </a:rPr>
              <a:t>Phase 1 · Foundation</a:t>
            </a:r>
            <a:endParaRPr lang="en-US" sz="1040" dirty="0"/>
          </a:p>
        </p:txBody>
      </p:sp>
      <p:sp>
        <p:nvSpPr>
          <p:cNvPr id="26" name="Text 24"/>
          <p:cNvSpPr/>
          <p:nvPr/>
        </p:nvSpPr>
        <p:spPr>
          <a:xfrm>
            <a:off x="8759952" y="21305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F6FAFF"/>
                </a:solidFill>
              </a:rPr>
              <a:t>Data model, adjustment engine, explanation basics</a:t>
            </a:r>
            <a:endParaRPr lang="en-US" sz="910" dirty="0"/>
          </a:p>
        </p:txBody>
      </p:sp>
      <p:sp>
        <p:nvSpPr>
          <p:cNvPr id="27" name="Shape 25"/>
          <p:cNvSpPr/>
          <p:nvPr/>
        </p:nvSpPr>
        <p:spPr>
          <a:xfrm>
            <a:off x="8613648" y="2706624"/>
            <a:ext cx="2487168" cy="530352"/>
          </a:xfrm>
          <a:prstGeom prst="roundRect">
            <a:avLst>
              <a:gd name="adj" fmla="val 6897"/>
            </a:avLst>
          </a:prstGeom>
          <a:solidFill>
            <a:srgbClr val="0D2548"/>
          </a:solidFill>
          <a:ln w="12700">
            <a:solidFill>
              <a:srgbClr val="57A8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759952" y="2779776"/>
            <a:ext cx="1874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57A8FF"/>
                </a:solidFill>
              </a:rPr>
              <a:t>Phase 2 · Trust MVP</a:t>
            </a:r>
            <a:endParaRPr lang="en-US" sz="1040" dirty="0"/>
          </a:p>
        </p:txBody>
      </p:sp>
      <p:sp>
        <p:nvSpPr>
          <p:cNvPr id="29" name="Text 27"/>
          <p:cNvSpPr/>
          <p:nvPr/>
        </p:nvSpPr>
        <p:spPr>
          <a:xfrm>
            <a:off x="8759952" y="293522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F6FAFF"/>
                </a:solidFill>
              </a:rPr>
              <a:t>Mobile-first MVP, confidence cues, legal baseline</a:t>
            </a:r>
            <a:endParaRPr lang="en-US" sz="910" dirty="0"/>
          </a:p>
        </p:txBody>
      </p:sp>
      <p:sp>
        <p:nvSpPr>
          <p:cNvPr id="30" name="Shape 28"/>
          <p:cNvSpPr/>
          <p:nvPr/>
        </p:nvSpPr>
        <p:spPr>
          <a:xfrm>
            <a:off x="8613648" y="3511296"/>
            <a:ext cx="2487168" cy="530352"/>
          </a:xfrm>
          <a:prstGeom prst="roundRect">
            <a:avLst>
              <a:gd name="adj" fmla="val 6897"/>
            </a:avLst>
          </a:prstGeom>
          <a:solidFill>
            <a:srgbClr val="0D2548"/>
          </a:solidFill>
          <a:ln w="12700">
            <a:solidFill>
              <a:srgbClr val="F1C84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759952" y="3584448"/>
            <a:ext cx="1874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F1C84B"/>
                </a:solidFill>
              </a:rPr>
              <a:t>Phase 3 · Convenience</a:t>
            </a:r>
            <a:endParaRPr lang="en-US" sz="1040" dirty="0"/>
          </a:p>
        </p:txBody>
      </p:sp>
      <p:sp>
        <p:nvSpPr>
          <p:cNvPr id="32" name="Text 30"/>
          <p:cNvSpPr/>
          <p:nvPr/>
        </p:nvSpPr>
        <p:spPr>
          <a:xfrm>
            <a:off x="8759952" y="373989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F6FAFF"/>
                </a:solidFill>
              </a:rPr>
              <a:t>Health brokers, Strava, onboarding and retention polish</a:t>
            </a:r>
            <a:endParaRPr lang="en-US" sz="910" dirty="0"/>
          </a:p>
        </p:txBody>
      </p:sp>
      <p:sp>
        <p:nvSpPr>
          <p:cNvPr id="33" name="Shape 31"/>
          <p:cNvSpPr/>
          <p:nvPr/>
        </p:nvSpPr>
        <p:spPr>
          <a:xfrm>
            <a:off x="8613648" y="4315968"/>
            <a:ext cx="2487168" cy="530352"/>
          </a:xfrm>
          <a:prstGeom prst="roundRect">
            <a:avLst>
              <a:gd name="adj" fmla="val 6897"/>
            </a:avLst>
          </a:prstGeom>
          <a:solidFill>
            <a:srgbClr val="0D2548"/>
          </a:solidFill>
          <a:ln w="12700">
            <a:solidFill>
              <a:srgbClr val="FF5DB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759952" y="4389120"/>
            <a:ext cx="1874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FF5DB7"/>
                </a:solidFill>
              </a:rPr>
              <a:t>Phase 4 · Scale &amp; Monetize</a:t>
            </a:r>
            <a:endParaRPr lang="en-US" sz="1040" dirty="0"/>
          </a:p>
        </p:txBody>
      </p:sp>
      <p:sp>
        <p:nvSpPr>
          <p:cNvPr id="35" name="Text 33"/>
          <p:cNvSpPr/>
          <p:nvPr/>
        </p:nvSpPr>
        <p:spPr>
          <a:xfrm>
            <a:off x="8759952" y="454456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F6FAFF"/>
                </a:solidFill>
              </a:rPr>
              <a:t>Optional hosted sync, premium features, selective direct integrations</a:t>
            </a:r>
            <a:endParaRPr lang="en-US" sz="9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28232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F90A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6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the roadmap is staged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58368" y="768096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B9C5D9"/>
                </a:solidFill>
              </a:rPr>
              <a:t>This is a compressed execution plan. The first useful version should land fast; later phases are polish and expansion, not excuses to wait.</a:t>
            </a:r>
            <a:endParaRPr lang="en-US" sz="1140" dirty="0"/>
          </a:p>
        </p:txBody>
      </p:sp>
      <p:sp>
        <p:nvSpPr>
          <p:cNvPr id="4" name="Shape 2"/>
          <p:cNvSpPr/>
          <p:nvPr/>
        </p:nvSpPr>
        <p:spPr>
          <a:xfrm>
            <a:off x="667512" y="1554480"/>
            <a:ext cx="2706624" cy="4526280"/>
          </a:xfrm>
          <a:prstGeom prst="roundRect">
            <a:avLst>
              <a:gd name="adj" fmla="val 2703"/>
            </a:avLst>
          </a:prstGeom>
          <a:solidFill>
            <a:srgbClr val="0B1E3D">
              <a:alpha val="88000"/>
            </a:srgbClr>
          </a:solidFill>
          <a:ln w="12700">
            <a:solidFill>
              <a:srgbClr val="24436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0372" y="1627632"/>
            <a:ext cx="36576" cy="4379976"/>
          </a:xfrm>
          <a:prstGeom prst="rect">
            <a:avLst/>
          </a:prstGeom>
          <a:solidFill>
            <a:srgbClr val="12D2FF"/>
          </a:solidFill>
          <a:ln w="12700">
            <a:solidFill>
              <a:srgbClr val="12D2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773936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10" b="1" dirty="0">
                <a:solidFill>
                  <a:srgbClr val="12D2FF"/>
                </a:solidFill>
              </a:rPr>
              <a:t>Phase 1</a:t>
            </a:r>
            <a:endParaRPr lang="en-US" sz="1210" dirty="0"/>
          </a:p>
        </p:txBody>
      </p:sp>
      <p:sp>
        <p:nvSpPr>
          <p:cNvPr id="7" name="Text 5"/>
          <p:cNvSpPr/>
          <p:nvPr/>
        </p:nvSpPr>
        <p:spPr>
          <a:xfrm>
            <a:off x="868680" y="199339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6FAFF"/>
                </a:solidFill>
              </a:rPr>
              <a:t>Foundation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2322576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9C5D9"/>
                </a:solidFill>
              </a:rPr>
              <a:t>Week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2706624"/>
            <a:ext cx="2359152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6FAFF"/>
                </a:solidFill>
              </a:rPr>
              <a:t>• Canonical data model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6FAFF"/>
                </a:solidFill>
              </a:rPr>
              <a:t>• Editable daily log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6FAFF"/>
                </a:solidFill>
              </a:rPr>
              <a:t>• Adjustment logic v1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6FAFF"/>
                </a:solidFill>
              </a:rPr>
              <a:t>• Trip / event tagging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6FAFF"/>
                </a:solidFill>
              </a:rPr>
              <a:t>• Basic proof dataset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5596128"/>
            <a:ext cx="23408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10" b="1" dirty="0">
                <a:solidFill>
                  <a:srgbClr val="12D2FF"/>
                </a:solidFill>
              </a:rPr>
              <a:t>Goal: prove the core fast</a:t>
            </a:r>
            <a:endParaRPr lang="en-US" sz="1110" dirty="0"/>
          </a:p>
        </p:txBody>
      </p:sp>
      <p:sp>
        <p:nvSpPr>
          <p:cNvPr id="11" name="Shape 9"/>
          <p:cNvSpPr/>
          <p:nvPr/>
        </p:nvSpPr>
        <p:spPr>
          <a:xfrm>
            <a:off x="3538728" y="1554480"/>
            <a:ext cx="2706624" cy="4526280"/>
          </a:xfrm>
          <a:prstGeom prst="roundRect">
            <a:avLst>
              <a:gd name="adj" fmla="val 2703"/>
            </a:avLst>
          </a:prstGeom>
          <a:solidFill>
            <a:srgbClr val="0B1E3D">
              <a:alpha val="88000"/>
            </a:srgbClr>
          </a:solidFill>
          <a:ln w="12700">
            <a:solidFill>
              <a:srgbClr val="24436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61588" y="1627632"/>
            <a:ext cx="36576" cy="4379976"/>
          </a:xfrm>
          <a:prstGeom prst="rect">
            <a:avLst/>
          </a:prstGeom>
          <a:solidFill>
            <a:srgbClr val="57A8FF"/>
          </a:solidFill>
          <a:ln w="12700">
            <a:solidFill>
              <a:srgbClr val="57A8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39896" y="1773936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10" b="1" dirty="0">
                <a:solidFill>
                  <a:srgbClr val="57A8FF"/>
                </a:solidFill>
              </a:rPr>
              <a:t>Phase 2</a:t>
            </a:r>
            <a:endParaRPr lang="en-US" sz="1210" dirty="0"/>
          </a:p>
        </p:txBody>
      </p:sp>
      <p:sp>
        <p:nvSpPr>
          <p:cNvPr id="14" name="Text 12"/>
          <p:cNvSpPr/>
          <p:nvPr/>
        </p:nvSpPr>
        <p:spPr>
          <a:xfrm>
            <a:off x="3739896" y="199339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6FAFF"/>
                </a:solidFill>
              </a:rPr>
              <a:t>Trust MVP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739896" y="2322576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9C5D9"/>
                </a:solidFill>
              </a:rPr>
              <a:t>Weeks 2–3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739896" y="2706624"/>
            <a:ext cx="2359152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6FAFF"/>
                </a:solidFill>
              </a:rPr>
              <a:t>• Simple mobile flows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6FAFF"/>
                </a:solidFill>
              </a:rPr>
              <a:t>• Confidence level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6FAFF"/>
                </a:solidFill>
              </a:rPr>
              <a:t>• Explanation cards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6FAFF"/>
                </a:solidFill>
              </a:rPr>
              <a:t>• Export / import basics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6FAFF"/>
                </a:solidFill>
              </a:rPr>
              <a:t>• Privacy baseline live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739896" y="5596128"/>
            <a:ext cx="23408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10" b="1" dirty="0">
                <a:solidFill>
                  <a:srgbClr val="57A8FF"/>
                </a:solidFill>
              </a:rPr>
              <a:t>Goal: make daily use feel good</a:t>
            </a:r>
            <a:endParaRPr lang="en-US" sz="1110" dirty="0"/>
          </a:p>
        </p:txBody>
      </p:sp>
      <p:sp>
        <p:nvSpPr>
          <p:cNvPr id="18" name="Shape 16"/>
          <p:cNvSpPr/>
          <p:nvPr/>
        </p:nvSpPr>
        <p:spPr>
          <a:xfrm>
            <a:off x="6409944" y="1554480"/>
            <a:ext cx="2706624" cy="4526280"/>
          </a:xfrm>
          <a:prstGeom prst="roundRect">
            <a:avLst>
              <a:gd name="adj" fmla="val 2703"/>
            </a:avLst>
          </a:prstGeom>
          <a:solidFill>
            <a:srgbClr val="0B1E3D">
              <a:alpha val="88000"/>
            </a:srgbClr>
          </a:solidFill>
          <a:ln w="12700">
            <a:solidFill>
              <a:srgbClr val="24436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32804" y="1627632"/>
            <a:ext cx="36576" cy="4379976"/>
          </a:xfrm>
          <a:prstGeom prst="rect">
            <a:avLst/>
          </a:prstGeom>
          <a:solidFill>
            <a:srgbClr val="F1C84B"/>
          </a:solidFill>
          <a:ln w="12700">
            <a:solidFill>
              <a:srgbClr val="F1C84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11112" y="1773936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10" b="1" dirty="0">
                <a:solidFill>
                  <a:srgbClr val="F1C84B"/>
                </a:solidFill>
              </a:rPr>
              <a:t>Phase 3</a:t>
            </a:r>
            <a:endParaRPr lang="en-US" sz="1210" dirty="0"/>
          </a:p>
        </p:txBody>
      </p:sp>
      <p:sp>
        <p:nvSpPr>
          <p:cNvPr id="21" name="Text 19"/>
          <p:cNvSpPr/>
          <p:nvPr/>
        </p:nvSpPr>
        <p:spPr>
          <a:xfrm>
            <a:off x="6611112" y="199339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6FAFF"/>
                </a:solidFill>
              </a:rPr>
              <a:t>Convenience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611112" y="2322576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9C5D9"/>
                </a:solidFill>
              </a:rPr>
              <a:t>Weeks 4–6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611112" y="2706624"/>
            <a:ext cx="2359152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6FAFF"/>
                </a:solidFill>
              </a:rPr>
              <a:t>• Health brokers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6FAFF"/>
                </a:solidFill>
              </a:rPr>
              <a:t>• Strava direct sync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6FAFF"/>
                </a:solidFill>
              </a:rPr>
              <a:t>• Better onboarding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6FAFF"/>
                </a:solidFill>
              </a:rPr>
              <a:t>• Reminders and nudges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6FAFF"/>
                </a:solidFill>
              </a:rPr>
              <a:t>• Retention instrumentation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611112" y="5596128"/>
            <a:ext cx="23408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10" b="1" dirty="0">
                <a:solidFill>
                  <a:srgbClr val="F1C84B"/>
                </a:solidFill>
              </a:rPr>
              <a:t>Goal: add convenience without clutter</a:t>
            </a:r>
            <a:endParaRPr lang="en-US" sz="1110" dirty="0"/>
          </a:p>
        </p:txBody>
      </p:sp>
      <p:sp>
        <p:nvSpPr>
          <p:cNvPr id="25" name="Shape 23"/>
          <p:cNvSpPr/>
          <p:nvPr/>
        </p:nvSpPr>
        <p:spPr>
          <a:xfrm>
            <a:off x="9281160" y="1554480"/>
            <a:ext cx="2706624" cy="4526280"/>
          </a:xfrm>
          <a:prstGeom prst="roundRect">
            <a:avLst>
              <a:gd name="adj" fmla="val 2703"/>
            </a:avLst>
          </a:prstGeom>
          <a:solidFill>
            <a:srgbClr val="0B1E3D">
              <a:alpha val="88000"/>
            </a:srgbClr>
          </a:solidFill>
          <a:ln w="12700">
            <a:solidFill>
              <a:srgbClr val="24436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304020" y="1627632"/>
            <a:ext cx="36576" cy="4379976"/>
          </a:xfrm>
          <a:prstGeom prst="rect">
            <a:avLst/>
          </a:prstGeom>
          <a:solidFill>
            <a:srgbClr val="FF5DB7"/>
          </a:solidFill>
          <a:ln w="12700">
            <a:solidFill>
              <a:srgbClr val="FF5DB7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482328" y="1773936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10" b="1" dirty="0">
                <a:solidFill>
                  <a:srgbClr val="FF5DB7"/>
                </a:solidFill>
              </a:rPr>
              <a:t>Phase 4</a:t>
            </a:r>
            <a:endParaRPr lang="en-US" sz="1210" dirty="0"/>
          </a:p>
        </p:txBody>
      </p:sp>
      <p:sp>
        <p:nvSpPr>
          <p:cNvPr id="28" name="Text 26"/>
          <p:cNvSpPr/>
          <p:nvPr/>
        </p:nvSpPr>
        <p:spPr>
          <a:xfrm>
            <a:off x="9482328" y="199339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6FAFF"/>
                </a:solidFill>
              </a:rPr>
              <a:t>Scale &amp; Monetize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482328" y="2322576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9C5D9"/>
                </a:solidFill>
              </a:rPr>
              <a:t>Later, if earned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482328" y="2706624"/>
            <a:ext cx="2359152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6FAFF"/>
                </a:solidFill>
              </a:rPr>
              <a:t>• Premium insights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6FAFF"/>
                </a:solidFill>
              </a:rPr>
              <a:t>• Optional hosted sync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6FAFF"/>
                </a:solidFill>
              </a:rPr>
              <a:t>• Garmin review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6FAFF"/>
                </a:solidFill>
              </a:rPr>
              <a:t>• Partner pilots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6FAFF"/>
                </a:solidFill>
              </a:rPr>
              <a:t>• Refined monetization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482328" y="5596128"/>
            <a:ext cx="23408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10" b="1" dirty="0">
                <a:solidFill>
                  <a:srgbClr val="FF5DB7"/>
                </a:solidFill>
              </a:rPr>
              <a:t>Goal: expand only when earned</a:t>
            </a:r>
            <a:endParaRPr lang="en-US" sz="11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28232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F90A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6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Track 1 – Development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58368" y="768096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B9C5D9"/>
                </a:solidFill>
              </a:rPr>
              <a:t>Core product logic has to become trustworthy before the app becomes broad.</a:t>
            </a:r>
            <a:endParaRPr lang="en-US" sz="1140" dirty="0"/>
          </a:p>
        </p:txBody>
      </p:sp>
      <p:sp>
        <p:nvSpPr>
          <p:cNvPr id="4" name="Shape 2"/>
          <p:cNvSpPr/>
          <p:nvPr/>
        </p:nvSpPr>
        <p:spPr>
          <a:xfrm>
            <a:off x="3246120" y="1353312"/>
            <a:ext cx="1936242" cy="384048"/>
          </a:xfrm>
          <a:prstGeom prst="roundRect">
            <a:avLst>
              <a:gd name="adj" fmla="val 14286"/>
            </a:avLst>
          </a:prstGeom>
          <a:solidFill>
            <a:srgbClr val="0A203F"/>
          </a:solidFill>
          <a:ln w="12700">
            <a:solidFill>
              <a:srgbClr val="12D2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355848" y="1389888"/>
            <a:ext cx="17716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12D2FF"/>
                </a:solidFill>
              </a:rPr>
              <a:t>Phase 1</a:t>
            </a:r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6FAFF"/>
                </a:solidFill>
              </a:rPr>
              <a:t>Foundation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5328666" y="1353312"/>
            <a:ext cx="1936242" cy="384048"/>
          </a:xfrm>
          <a:prstGeom prst="roundRect">
            <a:avLst>
              <a:gd name="adj" fmla="val 14286"/>
            </a:avLst>
          </a:prstGeom>
          <a:solidFill>
            <a:srgbClr val="0A203F"/>
          </a:solidFill>
          <a:ln w="12700">
            <a:solidFill>
              <a:srgbClr val="57A8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38394" y="1389888"/>
            <a:ext cx="17716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57A8FF"/>
                </a:solidFill>
              </a:rPr>
              <a:t>Phase 2</a:t>
            </a:r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6FAFF"/>
                </a:solidFill>
              </a:rPr>
              <a:t>Trust MVP</a:t>
            </a:r>
            <a:endParaRPr lang="en-US" sz="1020" dirty="0"/>
          </a:p>
        </p:txBody>
      </p:sp>
      <p:sp>
        <p:nvSpPr>
          <p:cNvPr id="8" name="Shape 6"/>
          <p:cNvSpPr/>
          <p:nvPr/>
        </p:nvSpPr>
        <p:spPr>
          <a:xfrm>
            <a:off x="7411212" y="1353312"/>
            <a:ext cx="1936242" cy="384048"/>
          </a:xfrm>
          <a:prstGeom prst="roundRect">
            <a:avLst>
              <a:gd name="adj" fmla="val 14286"/>
            </a:avLst>
          </a:prstGeom>
          <a:solidFill>
            <a:srgbClr val="0A203F"/>
          </a:solidFill>
          <a:ln w="12700">
            <a:solidFill>
              <a:srgbClr val="F1C8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20940" y="1389888"/>
            <a:ext cx="17716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F1C84B"/>
                </a:solidFill>
              </a:rPr>
              <a:t>Phase 3</a:t>
            </a:r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6FAFF"/>
                </a:solidFill>
              </a:rPr>
              <a:t>Convenience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9493758" y="1353312"/>
            <a:ext cx="1936242" cy="384048"/>
          </a:xfrm>
          <a:prstGeom prst="roundRect">
            <a:avLst>
              <a:gd name="adj" fmla="val 14286"/>
            </a:avLst>
          </a:prstGeom>
          <a:solidFill>
            <a:srgbClr val="0A203F"/>
          </a:solidFill>
          <a:ln w="12700">
            <a:solidFill>
              <a:srgbClr val="FF5DB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3486" y="1389888"/>
            <a:ext cx="17716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FF5DB7"/>
                </a:solidFill>
              </a:rPr>
              <a:t>Phase 4</a:t>
            </a:r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6FAFF"/>
                </a:solidFill>
              </a:rPr>
              <a:t>Scale &amp; Monetize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658368" y="1353312"/>
            <a:ext cx="2249424" cy="4901184"/>
          </a:xfrm>
          <a:prstGeom prst="roundRect">
            <a:avLst>
              <a:gd name="adj" fmla="val 3252"/>
            </a:avLst>
          </a:prstGeom>
          <a:solidFill>
            <a:srgbClr val="0B1E3D">
              <a:alpha val="88000"/>
            </a:srgbClr>
          </a:solidFill>
          <a:ln w="12700">
            <a:solidFill>
              <a:srgbClr val="24436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1228" y="1426464"/>
            <a:ext cx="36576" cy="4754880"/>
          </a:xfrm>
          <a:prstGeom prst="rect">
            <a:avLst/>
          </a:prstGeom>
          <a:solidFill>
            <a:srgbClr val="31F0C7"/>
          </a:solidFill>
          <a:ln w="12700">
            <a:solidFill>
              <a:srgbClr val="31F0C7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9536" y="160934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6FAFF"/>
                </a:solidFill>
              </a:rPr>
              <a:t>Core objective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59536" y="2029968"/>
            <a:ext cx="1737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10" dirty="0">
                <a:solidFill>
                  <a:srgbClr val="B9C5D9"/>
                </a:solidFill>
              </a:rPr>
              <a:t>Create one canonical timeline of user data, then layer interpretation on top of it. Every data point should preserve source, editability and confidence.</a:t>
            </a:r>
            <a:endParaRPr lang="en-US" sz="1310" dirty="0"/>
          </a:p>
        </p:txBody>
      </p:sp>
      <p:sp>
        <p:nvSpPr>
          <p:cNvPr id="16" name="Text 14"/>
          <p:cNvSpPr/>
          <p:nvPr/>
        </p:nvSpPr>
        <p:spPr>
          <a:xfrm>
            <a:off x="859536" y="4370832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10" b="1" dirty="0">
                <a:solidFill>
                  <a:srgbClr val="F1C84B"/>
                </a:solidFill>
              </a:rPr>
              <a:t>What success looks like</a:t>
            </a:r>
            <a:endParaRPr lang="en-US" sz="1110" dirty="0"/>
          </a:p>
        </p:txBody>
      </p:sp>
      <p:sp>
        <p:nvSpPr>
          <p:cNvPr id="17" name="Text 15"/>
          <p:cNvSpPr/>
          <p:nvPr/>
        </p:nvSpPr>
        <p:spPr>
          <a:xfrm>
            <a:off x="859536" y="4626864"/>
            <a:ext cx="17190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B9C5D9"/>
                </a:solidFill>
              </a:rPr>
              <a:t>• A stable engine that can explain noisy weigh-ins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B9C5D9"/>
                </a:solidFill>
              </a:rPr>
              <a:t>• Reliable source provenance per entry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B9C5D9"/>
                </a:solidFill>
              </a:rPr>
              <a:t>• A clean rule for what lives locally vs remotely</a:t>
            </a:r>
            <a:endParaRPr lang="en-US" sz="1110" dirty="0"/>
          </a:p>
        </p:txBody>
      </p:sp>
      <p:sp>
        <p:nvSpPr>
          <p:cNvPr id="18" name="Shape 16"/>
          <p:cNvSpPr/>
          <p:nvPr/>
        </p:nvSpPr>
        <p:spPr>
          <a:xfrm>
            <a:off x="3246120" y="1847088"/>
            <a:ext cx="1936242" cy="4407408"/>
          </a:xfrm>
          <a:prstGeom prst="roundRect">
            <a:avLst>
              <a:gd name="adj" fmla="val 3778"/>
            </a:avLst>
          </a:prstGeom>
          <a:solidFill>
            <a:srgbClr val="0B1E3D">
              <a:alpha val="88000"/>
            </a:srgbClr>
          </a:solidFill>
          <a:ln w="12700">
            <a:solidFill>
              <a:srgbClr val="24436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68980" y="1920240"/>
            <a:ext cx="36576" cy="4261104"/>
          </a:xfrm>
          <a:prstGeom prst="rect">
            <a:avLst/>
          </a:prstGeom>
          <a:solidFill>
            <a:srgbClr val="12D2FF"/>
          </a:solidFill>
          <a:ln w="12700">
            <a:solidFill>
              <a:srgbClr val="12D2F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10712" y="2011680"/>
            <a:ext cx="166192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10" b="1" dirty="0">
                <a:solidFill>
                  <a:srgbClr val="F6FAFF"/>
                </a:solidFill>
              </a:rPr>
              <a:t>Data foundation</a:t>
            </a:r>
            <a:endParaRPr lang="en-US" sz="1510" dirty="0"/>
          </a:p>
        </p:txBody>
      </p:sp>
      <p:sp>
        <p:nvSpPr>
          <p:cNvPr id="21" name="Text 19"/>
          <p:cNvSpPr/>
          <p:nvPr/>
        </p:nvSpPr>
        <p:spPr>
          <a:xfrm>
            <a:off x="3410712" y="2286000"/>
            <a:ext cx="166192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i="1" dirty="0">
                <a:solidFill>
                  <a:srgbClr val="B9C5D9"/>
                </a:solidFill>
              </a:rPr>
              <a:t>Build the product spine</a:t>
            </a:r>
            <a:endParaRPr lang="en-US" sz="1020" dirty="0"/>
          </a:p>
        </p:txBody>
      </p:sp>
      <p:sp>
        <p:nvSpPr>
          <p:cNvPr id="22" name="Text 20"/>
          <p:cNvSpPr/>
          <p:nvPr/>
        </p:nvSpPr>
        <p:spPr>
          <a:xfrm>
            <a:off x="3410712" y="2670048"/>
            <a:ext cx="1643634" cy="3163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6FAFF"/>
                </a:solidFill>
              </a:rPr>
              <a:t>• Canonical schema for weight, events, workouts and notes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6FAFF"/>
                </a:solidFill>
              </a:rPr>
              <a:t>• Manual entry with edit history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6FAFF"/>
                </a:solidFill>
              </a:rPr>
              <a:t>• Source provenance tags and import mapping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328666" y="1847088"/>
            <a:ext cx="1936242" cy="4407408"/>
          </a:xfrm>
          <a:prstGeom prst="roundRect">
            <a:avLst>
              <a:gd name="adj" fmla="val 3778"/>
            </a:avLst>
          </a:prstGeom>
          <a:solidFill>
            <a:srgbClr val="0B1E3D">
              <a:alpha val="88000"/>
            </a:srgbClr>
          </a:solidFill>
          <a:ln w="12700">
            <a:solidFill>
              <a:srgbClr val="24436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351526" y="1920240"/>
            <a:ext cx="36576" cy="4261104"/>
          </a:xfrm>
          <a:prstGeom prst="rect">
            <a:avLst/>
          </a:prstGeom>
          <a:solidFill>
            <a:srgbClr val="57A8FF"/>
          </a:solidFill>
          <a:ln w="12700">
            <a:solidFill>
              <a:srgbClr val="57A8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93258" y="2011680"/>
            <a:ext cx="166192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10" b="1" dirty="0">
                <a:solidFill>
                  <a:srgbClr val="F6FAFF"/>
                </a:solidFill>
              </a:rPr>
              <a:t>Interpretation engine</a:t>
            </a:r>
            <a:endParaRPr lang="en-US" sz="1510" dirty="0"/>
          </a:p>
        </p:txBody>
      </p:sp>
      <p:sp>
        <p:nvSpPr>
          <p:cNvPr id="26" name="Text 24"/>
          <p:cNvSpPr/>
          <p:nvPr/>
        </p:nvSpPr>
        <p:spPr>
          <a:xfrm>
            <a:off x="5493258" y="2286000"/>
            <a:ext cx="166192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i="1" dirty="0">
                <a:solidFill>
                  <a:srgbClr val="B9C5D9"/>
                </a:solidFill>
              </a:rPr>
              <a:t>Ship the wedge</a:t>
            </a:r>
            <a:endParaRPr lang="en-US" sz="1020" dirty="0"/>
          </a:p>
        </p:txBody>
      </p:sp>
      <p:sp>
        <p:nvSpPr>
          <p:cNvPr id="27" name="Text 25"/>
          <p:cNvSpPr/>
          <p:nvPr/>
        </p:nvSpPr>
        <p:spPr>
          <a:xfrm>
            <a:off x="5493258" y="2670048"/>
            <a:ext cx="1643634" cy="3163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6FAFF"/>
                </a:solidFill>
              </a:rPr>
              <a:t>• Adjustment logic v1 with visible assumptions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6FAFF"/>
                </a:solidFill>
              </a:rPr>
              <a:t>• Confidence layer and explanation snippets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6FAFF"/>
                </a:solidFill>
              </a:rPr>
              <a:t>• Backtest harness with common noise scenarios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411212" y="1847088"/>
            <a:ext cx="1936242" cy="4407408"/>
          </a:xfrm>
          <a:prstGeom prst="roundRect">
            <a:avLst>
              <a:gd name="adj" fmla="val 3778"/>
            </a:avLst>
          </a:prstGeom>
          <a:solidFill>
            <a:srgbClr val="0B1E3D">
              <a:alpha val="88000"/>
            </a:srgbClr>
          </a:solidFill>
          <a:ln w="12700">
            <a:solidFill>
              <a:srgbClr val="24436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434072" y="1920240"/>
            <a:ext cx="36576" cy="4261104"/>
          </a:xfrm>
          <a:prstGeom prst="rect">
            <a:avLst/>
          </a:prstGeom>
          <a:solidFill>
            <a:srgbClr val="F1C84B"/>
          </a:solidFill>
          <a:ln w="12700">
            <a:solidFill>
              <a:srgbClr val="F1C84B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75804" y="2011680"/>
            <a:ext cx="166192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10" b="1" dirty="0">
                <a:solidFill>
                  <a:srgbClr val="F6FAFF"/>
                </a:solidFill>
              </a:rPr>
              <a:t>Quality &amp; analytics</a:t>
            </a:r>
            <a:endParaRPr lang="en-US" sz="1510" dirty="0"/>
          </a:p>
        </p:txBody>
      </p:sp>
      <p:sp>
        <p:nvSpPr>
          <p:cNvPr id="31" name="Text 29"/>
          <p:cNvSpPr/>
          <p:nvPr/>
        </p:nvSpPr>
        <p:spPr>
          <a:xfrm>
            <a:off x="7575804" y="2286000"/>
            <a:ext cx="166192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i="1" dirty="0">
                <a:solidFill>
                  <a:srgbClr val="B9C5D9"/>
                </a:solidFill>
              </a:rPr>
              <a:t>Make behavior measurable</a:t>
            </a:r>
            <a:endParaRPr lang="en-US" sz="1020" dirty="0"/>
          </a:p>
        </p:txBody>
      </p:sp>
      <p:sp>
        <p:nvSpPr>
          <p:cNvPr id="32" name="Text 30"/>
          <p:cNvSpPr/>
          <p:nvPr/>
        </p:nvSpPr>
        <p:spPr>
          <a:xfrm>
            <a:off x="7575804" y="2670048"/>
            <a:ext cx="1643634" cy="3163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6FAFF"/>
                </a:solidFill>
              </a:rPr>
              <a:t>• Event attribution review tools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6FAFF"/>
                </a:solidFill>
              </a:rPr>
              <a:t>• Internal QA dashboards and logging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6FAFF"/>
                </a:solidFill>
              </a:rPr>
              <a:t>• Retention and usage instrumentation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9493758" y="1847088"/>
            <a:ext cx="1936242" cy="4407408"/>
          </a:xfrm>
          <a:prstGeom prst="roundRect">
            <a:avLst>
              <a:gd name="adj" fmla="val 3778"/>
            </a:avLst>
          </a:prstGeom>
          <a:solidFill>
            <a:srgbClr val="0B1E3D">
              <a:alpha val="88000"/>
            </a:srgbClr>
          </a:solidFill>
          <a:ln w="12700">
            <a:solidFill>
              <a:srgbClr val="24436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516618" y="1920240"/>
            <a:ext cx="36576" cy="4261104"/>
          </a:xfrm>
          <a:prstGeom prst="rect">
            <a:avLst/>
          </a:prstGeom>
          <a:solidFill>
            <a:srgbClr val="FF5DB7"/>
          </a:solidFill>
          <a:ln w="12700">
            <a:solidFill>
              <a:srgbClr val="FF5DB7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658350" y="2011680"/>
            <a:ext cx="166192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10" b="1" dirty="0">
                <a:solidFill>
                  <a:srgbClr val="F6FAFF"/>
                </a:solidFill>
              </a:rPr>
              <a:t>Scalable architecture</a:t>
            </a:r>
            <a:endParaRPr lang="en-US" sz="1510" dirty="0"/>
          </a:p>
        </p:txBody>
      </p:sp>
      <p:sp>
        <p:nvSpPr>
          <p:cNvPr id="36" name="Text 34"/>
          <p:cNvSpPr/>
          <p:nvPr/>
        </p:nvSpPr>
        <p:spPr>
          <a:xfrm>
            <a:off x="9658350" y="2286000"/>
            <a:ext cx="166192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i="1" dirty="0">
                <a:solidFill>
                  <a:srgbClr val="B9C5D9"/>
                </a:solidFill>
              </a:rPr>
              <a:t>Earn the right to broaden</a:t>
            </a:r>
            <a:endParaRPr lang="en-US" sz="1020" dirty="0"/>
          </a:p>
        </p:txBody>
      </p:sp>
      <p:sp>
        <p:nvSpPr>
          <p:cNvPr id="37" name="Text 35"/>
          <p:cNvSpPr/>
          <p:nvPr/>
        </p:nvSpPr>
        <p:spPr>
          <a:xfrm>
            <a:off x="9658350" y="2670048"/>
            <a:ext cx="1643634" cy="3163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6FAFF"/>
                </a:solidFill>
              </a:rPr>
              <a:t>• Modular boundaries for sync and insights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6FAFF"/>
                </a:solidFill>
              </a:rPr>
              <a:t>• Premium-ready feature flags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6FAFF"/>
                </a:solidFill>
              </a:rPr>
              <a:t>• Selective hosted infrastructure without breaking local control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28232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F90A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6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Track 2 – Mobile + design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58368" y="768096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B9C5D9"/>
                </a:solidFill>
              </a:rPr>
              <a:t>Mobile is not a wrapper. It is where daily trust, habit and clarity are won or lost.</a:t>
            </a:r>
            <a:endParaRPr lang="en-US" sz="1140" dirty="0"/>
          </a:p>
        </p:txBody>
      </p:sp>
      <p:sp>
        <p:nvSpPr>
          <p:cNvPr id="4" name="Shape 2"/>
          <p:cNvSpPr/>
          <p:nvPr/>
        </p:nvSpPr>
        <p:spPr>
          <a:xfrm>
            <a:off x="3246120" y="1353312"/>
            <a:ext cx="1936242" cy="384048"/>
          </a:xfrm>
          <a:prstGeom prst="roundRect">
            <a:avLst>
              <a:gd name="adj" fmla="val 14286"/>
            </a:avLst>
          </a:prstGeom>
          <a:solidFill>
            <a:srgbClr val="0A203F"/>
          </a:solidFill>
          <a:ln w="12700">
            <a:solidFill>
              <a:srgbClr val="12D2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355848" y="1389888"/>
            <a:ext cx="17716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12D2FF"/>
                </a:solidFill>
              </a:rPr>
              <a:t>Phase 1</a:t>
            </a:r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6FAFF"/>
                </a:solidFill>
              </a:rPr>
              <a:t>Foundation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5328666" y="1353312"/>
            <a:ext cx="1936242" cy="384048"/>
          </a:xfrm>
          <a:prstGeom prst="roundRect">
            <a:avLst>
              <a:gd name="adj" fmla="val 14286"/>
            </a:avLst>
          </a:prstGeom>
          <a:solidFill>
            <a:srgbClr val="0A203F"/>
          </a:solidFill>
          <a:ln w="12700">
            <a:solidFill>
              <a:srgbClr val="57A8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38394" y="1389888"/>
            <a:ext cx="17716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57A8FF"/>
                </a:solidFill>
              </a:rPr>
              <a:t>Phase 2</a:t>
            </a:r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6FAFF"/>
                </a:solidFill>
              </a:rPr>
              <a:t>Trust MVP</a:t>
            </a:r>
            <a:endParaRPr lang="en-US" sz="1020" dirty="0"/>
          </a:p>
        </p:txBody>
      </p:sp>
      <p:sp>
        <p:nvSpPr>
          <p:cNvPr id="8" name="Shape 6"/>
          <p:cNvSpPr/>
          <p:nvPr/>
        </p:nvSpPr>
        <p:spPr>
          <a:xfrm>
            <a:off x="7411212" y="1353312"/>
            <a:ext cx="1936242" cy="384048"/>
          </a:xfrm>
          <a:prstGeom prst="roundRect">
            <a:avLst>
              <a:gd name="adj" fmla="val 14286"/>
            </a:avLst>
          </a:prstGeom>
          <a:solidFill>
            <a:srgbClr val="0A203F"/>
          </a:solidFill>
          <a:ln w="12700">
            <a:solidFill>
              <a:srgbClr val="F1C8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20940" y="1389888"/>
            <a:ext cx="17716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F1C84B"/>
                </a:solidFill>
              </a:rPr>
              <a:t>Phase 3</a:t>
            </a:r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6FAFF"/>
                </a:solidFill>
              </a:rPr>
              <a:t>Convenience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9493758" y="1353312"/>
            <a:ext cx="1936242" cy="384048"/>
          </a:xfrm>
          <a:prstGeom prst="roundRect">
            <a:avLst>
              <a:gd name="adj" fmla="val 14286"/>
            </a:avLst>
          </a:prstGeom>
          <a:solidFill>
            <a:srgbClr val="0A203F"/>
          </a:solidFill>
          <a:ln w="12700">
            <a:solidFill>
              <a:srgbClr val="FF5DB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3486" y="1389888"/>
            <a:ext cx="17716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FF5DB7"/>
                </a:solidFill>
              </a:rPr>
              <a:t>Phase 4</a:t>
            </a:r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6FAFF"/>
                </a:solidFill>
              </a:rPr>
              <a:t>Scale &amp; Monetize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658368" y="1353312"/>
            <a:ext cx="2249424" cy="4901184"/>
          </a:xfrm>
          <a:prstGeom prst="roundRect">
            <a:avLst>
              <a:gd name="adj" fmla="val 3252"/>
            </a:avLst>
          </a:prstGeom>
          <a:solidFill>
            <a:srgbClr val="0B1E3D">
              <a:alpha val="88000"/>
            </a:srgbClr>
          </a:solidFill>
          <a:ln w="12700">
            <a:solidFill>
              <a:srgbClr val="24436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1228" y="1426464"/>
            <a:ext cx="36576" cy="4754880"/>
          </a:xfrm>
          <a:prstGeom prst="rect">
            <a:avLst/>
          </a:prstGeom>
          <a:solidFill>
            <a:srgbClr val="31F0C7"/>
          </a:solidFill>
          <a:ln w="12700">
            <a:solidFill>
              <a:srgbClr val="31F0C7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9536" y="160934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6FAFF"/>
                </a:solidFill>
              </a:rPr>
              <a:t>Experience goal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59536" y="2029968"/>
            <a:ext cx="1737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10" dirty="0">
                <a:solidFill>
                  <a:srgbClr val="B9C5D9"/>
                </a:solidFill>
              </a:rPr>
              <a:t>Make the app feel light, calm and understandable for ordinary trackers. The interface should reduce interpretation anxiety, not create more dashboards.</a:t>
            </a:r>
            <a:endParaRPr lang="en-US" sz="1310" dirty="0"/>
          </a:p>
        </p:txBody>
      </p:sp>
      <p:sp>
        <p:nvSpPr>
          <p:cNvPr id="16" name="Text 14"/>
          <p:cNvSpPr/>
          <p:nvPr/>
        </p:nvSpPr>
        <p:spPr>
          <a:xfrm>
            <a:off x="859536" y="4370832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10" b="1" dirty="0">
                <a:solidFill>
                  <a:srgbClr val="F1C84B"/>
                </a:solidFill>
              </a:rPr>
              <a:t>What success looks like</a:t>
            </a:r>
            <a:endParaRPr lang="en-US" sz="1110" dirty="0"/>
          </a:p>
        </p:txBody>
      </p:sp>
      <p:sp>
        <p:nvSpPr>
          <p:cNvPr id="17" name="Text 15"/>
          <p:cNvSpPr/>
          <p:nvPr/>
        </p:nvSpPr>
        <p:spPr>
          <a:xfrm>
            <a:off x="859536" y="4626864"/>
            <a:ext cx="17190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B9C5D9"/>
                </a:solidFill>
              </a:rPr>
              <a:t>• A user can log in seconds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B9C5D9"/>
                </a:solidFill>
              </a:rPr>
              <a:t>• The post-trip moment feels reassuring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B9C5D9"/>
                </a:solidFill>
              </a:rPr>
              <a:t>• The app teaches without feeling technical</a:t>
            </a:r>
            <a:endParaRPr lang="en-US" sz="1110" dirty="0"/>
          </a:p>
        </p:txBody>
      </p:sp>
      <p:sp>
        <p:nvSpPr>
          <p:cNvPr id="18" name="Shape 16"/>
          <p:cNvSpPr/>
          <p:nvPr/>
        </p:nvSpPr>
        <p:spPr>
          <a:xfrm>
            <a:off x="3246120" y="1847088"/>
            <a:ext cx="1936242" cy="4407408"/>
          </a:xfrm>
          <a:prstGeom prst="roundRect">
            <a:avLst>
              <a:gd name="adj" fmla="val 3778"/>
            </a:avLst>
          </a:prstGeom>
          <a:solidFill>
            <a:srgbClr val="0B1E3D">
              <a:alpha val="88000"/>
            </a:srgbClr>
          </a:solidFill>
          <a:ln w="12700">
            <a:solidFill>
              <a:srgbClr val="24436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68980" y="1920240"/>
            <a:ext cx="36576" cy="4261104"/>
          </a:xfrm>
          <a:prstGeom prst="rect">
            <a:avLst/>
          </a:prstGeom>
          <a:solidFill>
            <a:srgbClr val="12D2FF"/>
          </a:solidFill>
          <a:ln w="12700">
            <a:solidFill>
              <a:srgbClr val="12D2F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10712" y="2011680"/>
            <a:ext cx="166192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10" b="1" dirty="0">
                <a:solidFill>
                  <a:srgbClr val="F6FAFF"/>
                </a:solidFill>
              </a:rPr>
              <a:t>Flow design</a:t>
            </a:r>
            <a:endParaRPr lang="en-US" sz="1510" dirty="0"/>
          </a:p>
        </p:txBody>
      </p:sp>
      <p:sp>
        <p:nvSpPr>
          <p:cNvPr id="21" name="Text 19"/>
          <p:cNvSpPr/>
          <p:nvPr/>
        </p:nvSpPr>
        <p:spPr>
          <a:xfrm>
            <a:off x="3410712" y="2286000"/>
            <a:ext cx="166192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i="1" dirty="0">
                <a:solidFill>
                  <a:srgbClr val="B9C5D9"/>
                </a:solidFill>
              </a:rPr>
              <a:t>Fast, low-friction loops</a:t>
            </a:r>
            <a:endParaRPr lang="en-US" sz="1020" dirty="0"/>
          </a:p>
        </p:txBody>
      </p:sp>
      <p:sp>
        <p:nvSpPr>
          <p:cNvPr id="22" name="Text 20"/>
          <p:cNvSpPr/>
          <p:nvPr/>
        </p:nvSpPr>
        <p:spPr>
          <a:xfrm>
            <a:off x="3410712" y="2670048"/>
            <a:ext cx="1643634" cy="3163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6FAFF"/>
                </a:solidFill>
              </a:rPr>
              <a:t>• Mobile-first entry, review and edit flows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6FAFF"/>
                </a:solidFill>
              </a:rPr>
              <a:t>• Home screen centered on today, trend and explanation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6FAFF"/>
                </a:solidFill>
              </a:rPr>
              <a:t>• Trip / event mode as a guided check-in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328666" y="1847088"/>
            <a:ext cx="1936242" cy="4407408"/>
          </a:xfrm>
          <a:prstGeom prst="roundRect">
            <a:avLst>
              <a:gd name="adj" fmla="val 3778"/>
            </a:avLst>
          </a:prstGeom>
          <a:solidFill>
            <a:srgbClr val="0B1E3D">
              <a:alpha val="88000"/>
            </a:srgbClr>
          </a:solidFill>
          <a:ln w="12700">
            <a:solidFill>
              <a:srgbClr val="24436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351526" y="1920240"/>
            <a:ext cx="36576" cy="4261104"/>
          </a:xfrm>
          <a:prstGeom prst="rect">
            <a:avLst/>
          </a:prstGeom>
          <a:solidFill>
            <a:srgbClr val="57A8FF"/>
          </a:solidFill>
          <a:ln w="12700">
            <a:solidFill>
              <a:srgbClr val="57A8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93258" y="2011680"/>
            <a:ext cx="166192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10" b="1" dirty="0">
                <a:solidFill>
                  <a:srgbClr val="F6FAFF"/>
                </a:solidFill>
              </a:rPr>
              <a:t>Trust surfaces</a:t>
            </a:r>
            <a:endParaRPr lang="en-US" sz="1510" dirty="0"/>
          </a:p>
        </p:txBody>
      </p:sp>
      <p:sp>
        <p:nvSpPr>
          <p:cNvPr id="26" name="Text 24"/>
          <p:cNvSpPr/>
          <p:nvPr/>
        </p:nvSpPr>
        <p:spPr>
          <a:xfrm>
            <a:off x="5493258" y="2286000"/>
            <a:ext cx="166192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i="1" dirty="0">
                <a:solidFill>
                  <a:srgbClr val="B9C5D9"/>
                </a:solidFill>
              </a:rPr>
              <a:t>Clarity over cleverness</a:t>
            </a:r>
            <a:endParaRPr lang="en-US" sz="1020" dirty="0"/>
          </a:p>
        </p:txBody>
      </p:sp>
      <p:sp>
        <p:nvSpPr>
          <p:cNvPr id="27" name="Text 25"/>
          <p:cNvSpPr/>
          <p:nvPr/>
        </p:nvSpPr>
        <p:spPr>
          <a:xfrm>
            <a:off x="5493258" y="2670048"/>
            <a:ext cx="1643634" cy="3163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6FAFF"/>
                </a:solidFill>
              </a:rPr>
              <a:t>• Confidence meter and adjusted-vs-raw comparison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6FAFF"/>
                </a:solidFill>
              </a:rPr>
              <a:t>• Explanation cards in plain language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6FAFF"/>
                </a:solidFill>
              </a:rPr>
              <a:t>• Strong hierarchy for “what changed” and “what matters”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411212" y="1847088"/>
            <a:ext cx="1936242" cy="4407408"/>
          </a:xfrm>
          <a:prstGeom prst="roundRect">
            <a:avLst>
              <a:gd name="adj" fmla="val 3778"/>
            </a:avLst>
          </a:prstGeom>
          <a:solidFill>
            <a:srgbClr val="0B1E3D">
              <a:alpha val="88000"/>
            </a:srgbClr>
          </a:solidFill>
          <a:ln w="12700">
            <a:solidFill>
              <a:srgbClr val="24436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434072" y="1920240"/>
            <a:ext cx="36576" cy="4261104"/>
          </a:xfrm>
          <a:prstGeom prst="rect">
            <a:avLst/>
          </a:prstGeom>
          <a:solidFill>
            <a:srgbClr val="F1C84B"/>
          </a:solidFill>
          <a:ln w="12700">
            <a:solidFill>
              <a:srgbClr val="F1C84B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75804" y="2011680"/>
            <a:ext cx="166192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10" b="1" dirty="0">
                <a:solidFill>
                  <a:srgbClr val="F6FAFF"/>
                </a:solidFill>
              </a:rPr>
              <a:t>Retention polish</a:t>
            </a:r>
            <a:endParaRPr lang="en-US" sz="1510" dirty="0"/>
          </a:p>
        </p:txBody>
      </p:sp>
      <p:sp>
        <p:nvSpPr>
          <p:cNvPr id="31" name="Text 29"/>
          <p:cNvSpPr/>
          <p:nvPr/>
        </p:nvSpPr>
        <p:spPr>
          <a:xfrm>
            <a:off x="7575804" y="2286000"/>
            <a:ext cx="166192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i="1" dirty="0">
                <a:solidFill>
                  <a:srgbClr val="B9C5D9"/>
                </a:solidFill>
              </a:rPr>
              <a:t>Make daily use easy</a:t>
            </a:r>
            <a:endParaRPr lang="en-US" sz="1020" dirty="0"/>
          </a:p>
        </p:txBody>
      </p:sp>
      <p:sp>
        <p:nvSpPr>
          <p:cNvPr id="32" name="Text 30"/>
          <p:cNvSpPr/>
          <p:nvPr/>
        </p:nvSpPr>
        <p:spPr>
          <a:xfrm>
            <a:off x="7575804" y="2670048"/>
            <a:ext cx="1643634" cy="3163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6FAFF"/>
                </a:solidFill>
              </a:rPr>
              <a:t>• Reminders, streaks and lightweight nudges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6FAFF"/>
                </a:solidFill>
              </a:rPr>
              <a:t>• Saved habits and one-tap event tagging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6FAFF"/>
                </a:solidFill>
              </a:rPr>
              <a:t>• Better empty states and recovery flows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9493758" y="1847088"/>
            <a:ext cx="1936242" cy="4407408"/>
          </a:xfrm>
          <a:prstGeom prst="roundRect">
            <a:avLst>
              <a:gd name="adj" fmla="val 3778"/>
            </a:avLst>
          </a:prstGeom>
          <a:solidFill>
            <a:srgbClr val="0B1E3D">
              <a:alpha val="88000"/>
            </a:srgbClr>
          </a:solidFill>
          <a:ln w="12700">
            <a:solidFill>
              <a:srgbClr val="24436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516618" y="1920240"/>
            <a:ext cx="36576" cy="4261104"/>
          </a:xfrm>
          <a:prstGeom prst="rect">
            <a:avLst/>
          </a:prstGeom>
          <a:solidFill>
            <a:srgbClr val="FF5DB7"/>
          </a:solidFill>
          <a:ln w="12700">
            <a:solidFill>
              <a:srgbClr val="FF5DB7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658350" y="2011680"/>
            <a:ext cx="166192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10" b="1" dirty="0">
                <a:solidFill>
                  <a:srgbClr val="F6FAFF"/>
                </a:solidFill>
              </a:rPr>
              <a:t>Premium UX depth</a:t>
            </a:r>
            <a:endParaRPr lang="en-US" sz="1510" dirty="0"/>
          </a:p>
        </p:txBody>
      </p:sp>
      <p:sp>
        <p:nvSpPr>
          <p:cNvPr id="36" name="Text 34"/>
          <p:cNvSpPr/>
          <p:nvPr/>
        </p:nvSpPr>
        <p:spPr>
          <a:xfrm>
            <a:off x="9658350" y="2286000"/>
            <a:ext cx="166192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i="1" dirty="0">
                <a:solidFill>
                  <a:srgbClr val="B9C5D9"/>
                </a:solidFill>
              </a:rPr>
              <a:t>Add power without clutter</a:t>
            </a:r>
            <a:endParaRPr lang="en-US" sz="1020" dirty="0"/>
          </a:p>
        </p:txBody>
      </p:sp>
      <p:sp>
        <p:nvSpPr>
          <p:cNvPr id="37" name="Text 35"/>
          <p:cNvSpPr/>
          <p:nvPr/>
        </p:nvSpPr>
        <p:spPr>
          <a:xfrm>
            <a:off x="9658350" y="2670048"/>
            <a:ext cx="1643634" cy="3163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6FAFF"/>
                </a:solidFill>
              </a:rPr>
              <a:t>• Advanced filters and source controls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6FAFF"/>
                </a:solidFill>
              </a:rPr>
              <a:t>• Longer-view reports and summaries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6FAFF"/>
                </a:solidFill>
              </a:rPr>
              <a:t>• Optional multi-device sync settings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28232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F90A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6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Track 3 – Legal + data governance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58368" y="768096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B9C5D9"/>
                </a:solidFill>
              </a:rPr>
              <a:t>Because this touches health-adjacent data, privacy discipline is part of the product, not a checkbox.</a:t>
            </a:r>
            <a:endParaRPr lang="en-US" sz="1140" dirty="0"/>
          </a:p>
        </p:txBody>
      </p:sp>
      <p:sp>
        <p:nvSpPr>
          <p:cNvPr id="4" name="Shape 2"/>
          <p:cNvSpPr/>
          <p:nvPr/>
        </p:nvSpPr>
        <p:spPr>
          <a:xfrm>
            <a:off x="3246120" y="1353312"/>
            <a:ext cx="1936242" cy="384048"/>
          </a:xfrm>
          <a:prstGeom prst="roundRect">
            <a:avLst>
              <a:gd name="adj" fmla="val 14286"/>
            </a:avLst>
          </a:prstGeom>
          <a:solidFill>
            <a:srgbClr val="0A203F"/>
          </a:solidFill>
          <a:ln w="12700">
            <a:solidFill>
              <a:srgbClr val="12D2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355848" y="1389888"/>
            <a:ext cx="17716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12D2FF"/>
                </a:solidFill>
              </a:rPr>
              <a:t>Phase 1</a:t>
            </a:r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6FAFF"/>
                </a:solidFill>
              </a:rPr>
              <a:t>Foundation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5328666" y="1353312"/>
            <a:ext cx="1936242" cy="384048"/>
          </a:xfrm>
          <a:prstGeom prst="roundRect">
            <a:avLst>
              <a:gd name="adj" fmla="val 14286"/>
            </a:avLst>
          </a:prstGeom>
          <a:solidFill>
            <a:srgbClr val="0A203F"/>
          </a:solidFill>
          <a:ln w="12700">
            <a:solidFill>
              <a:srgbClr val="57A8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38394" y="1389888"/>
            <a:ext cx="17716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57A8FF"/>
                </a:solidFill>
              </a:rPr>
              <a:t>Phase 2</a:t>
            </a:r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6FAFF"/>
                </a:solidFill>
              </a:rPr>
              <a:t>Trust MVP</a:t>
            </a:r>
            <a:endParaRPr lang="en-US" sz="1020" dirty="0"/>
          </a:p>
        </p:txBody>
      </p:sp>
      <p:sp>
        <p:nvSpPr>
          <p:cNvPr id="8" name="Shape 6"/>
          <p:cNvSpPr/>
          <p:nvPr/>
        </p:nvSpPr>
        <p:spPr>
          <a:xfrm>
            <a:off x="7411212" y="1353312"/>
            <a:ext cx="1936242" cy="384048"/>
          </a:xfrm>
          <a:prstGeom prst="roundRect">
            <a:avLst>
              <a:gd name="adj" fmla="val 14286"/>
            </a:avLst>
          </a:prstGeom>
          <a:solidFill>
            <a:srgbClr val="0A203F"/>
          </a:solidFill>
          <a:ln w="12700">
            <a:solidFill>
              <a:srgbClr val="F1C8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20940" y="1389888"/>
            <a:ext cx="17716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F1C84B"/>
                </a:solidFill>
              </a:rPr>
              <a:t>Phase 3</a:t>
            </a:r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6FAFF"/>
                </a:solidFill>
              </a:rPr>
              <a:t>Convenience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9493758" y="1353312"/>
            <a:ext cx="1936242" cy="384048"/>
          </a:xfrm>
          <a:prstGeom prst="roundRect">
            <a:avLst>
              <a:gd name="adj" fmla="val 14286"/>
            </a:avLst>
          </a:prstGeom>
          <a:solidFill>
            <a:srgbClr val="0A203F"/>
          </a:solidFill>
          <a:ln w="12700">
            <a:solidFill>
              <a:srgbClr val="FF5DB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3486" y="1389888"/>
            <a:ext cx="17716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FF5DB7"/>
                </a:solidFill>
              </a:rPr>
              <a:t>Phase 4</a:t>
            </a:r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6FAFF"/>
                </a:solidFill>
              </a:rPr>
              <a:t>Scale &amp; Monetize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658368" y="1353312"/>
            <a:ext cx="2249424" cy="4901184"/>
          </a:xfrm>
          <a:prstGeom prst="roundRect">
            <a:avLst>
              <a:gd name="adj" fmla="val 3252"/>
            </a:avLst>
          </a:prstGeom>
          <a:solidFill>
            <a:srgbClr val="0B1E3D">
              <a:alpha val="88000"/>
            </a:srgbClr>
          </a:solidFill>
          <a:ln w="12700">
            <a:solidFill>
              <a:srgbClr val="24436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1228" y="1426464"/>
            <a:ext cx="36576" cy="4754880"/>
          </a:xfrm>
          <a:prstGeom prst="rect">
            <a:avLst/>
          </a:prstGeom>
          <a:solidFill>
            <a:srgbClr val="31F0C7"/>
          </a:solidFill>
          <a:ln w="12700">
            <a:solidFill>
              <a:srgbClr val="31F0C7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9536" y="160934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6FAFF"/>
                </a:solidFill>
              </a:rPr>
              <a:t>Governance goal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59536" y="2029968"/>
            <a:ext cx="1737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10" dirty="0">
                <a:solidFill>
                  <a:srgbClr val="B9C5D9"/>
                </a:solidFill>
              </a:rPr>
              <a:t>Stay legally clean and operationally simple: informed consent, minimal data collection, clear vendor boundaries and conservative handling of health-adjacent information.</a:t>
            </a:r>
            <a:endParaRPr lang="en-US" sz="1310" dirty="0"/>
          </a:p>
        </p:txBody>
      </p:sp>
      <p:sp>
        <p:nvSpPr>
          <p:cNvPr id="16" name="Text 14"/>
          <p:cNvSpPr/>
          <p:nvPr/>
        </p:nvSpPr>
        <p:spPr>
          <a:xfrm>
            <a:off x="859536" y="4370832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10" b="1" dirty="0">
                <a:solidFill>
                  <a:srgbClr val="F1C84B"/>
                </a:solidFill>
              </a:rPr>
              <a:t>What success looks like</a:t>
            </a:r>
            <a:endParaRPr lang="en-US" sz="1110" dirty="0"/>
          </a:p>
        </p:txBody>
      </p:sp>
      <p:sp>
        <p:nvSpPr>
          <p:cNvPr id="17" name="Text 15"/>
          <p:cNvSpPr/>
          <p:nvPr/>
        </p:nvSpPr>
        <p:spPr>
          <a:xfrm>
            <a:off x="859536" y="4626864"/>
            <a:ext cx="17190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B9C5D9"/>
                </a:solidFill>
              </a:rPr>
              <a:t>• Users understand what is collected and why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B9C5D9"/>
                </a:solidFill>
              </a:rPr>
              <a:t>• Vendor terms do not force brittle workarounds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B9C5D9"/>
                </a:solidFill>
              </a:rPr>
              <a:t>• Privacy remains a trust advantage, not a headache</a:t>
            </a:r>
            <a:endParaRPr lang="en-US" sz="1110" dirty="0"/>
          </a:p>
        </p:txBody>
      </p:sp>
      <p:sp>
        <p:nvSpPr>
          <p:cNvPr id="18" name="Shape 16"/>
          <p:cNvSpPr/>
          <p:nvPr/>
        </p:nvSpPr>
        <p:spPr>
          <a:xfrm>
            <a:off x="3246120" y="1847088"/>
            <a:ext cx="1936242" cy="4407408"/>
          </a:xfrm>
          <a:prstGeom prst="roundRect">
            <a:avLst>
              <a:gd name="adj" fmla="val 3778"/>
            </a:avLst>
          </a:prstGeom>
          <a:solidFill>
            <a:srgbClr val="0B1E3D">
              <a:alpha val="88000"/>
            </a:srgbClr>
          </a:solidFill>
          <a:ln w="12700">
            <a:solidFill>
              <a:srgbClr val="24436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68980" y="1920240"/>
            <a:ext cx="36576" cy="4261104"/>
          </a:xfrm>
          <a:prstGeom prst="rect">
            <a:avLst/>
          </a:prstGeom>
          <a:solidFill>
            <a:srgbClr val="12D2FF"/>
          </a:solidFill>
          <a:ln w="12700">
            <a:solidFill>
              <a:srgbClr val="12D2F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10712" y="2011680"/>
            <a:ext cx="166192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10" b="1" dirty="0">
                <a:solidFill>
                  <a:srgbClr val="F6FAFF"/>
                </a:solidFill>
              </a:rPr>
              <a:t>Baseline readiness</a:t>
            </a:r>
            <a:endParaRPr lang="en-US" sz="1510" dirty="0"/>
          </a:p>
        </p:txBody>
      </p:sp>
      <p:sp>
        <p:nvSpPr>
          <p:cNvPr id="21" name="Text 19"/>
          <p:cNvSpPr/>
          <p:nvPr/>
        </p:nvSpPr>
        <p:spPr>
          <a:xfrm>
            <a:off x="3410712" y="2286000"/>
            <a:ext cx="166192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i="1" dirty="0">
                <a:solidFill>
                  <a:srgbClr val="B9C5D9"/>
                </a:solidFill>
              </a:rPr>
              <a:t>Launch clean</a:t>
            </a:r>
            <a:endParaRPr lang="en-US" sz="1020" dirty="0"/>
          </a:p>
        </p:txBody>
      </p:sp>
      <p:sp>
        <p:nvSpPr>
          <p:cNvPr id="22" name="Text 20"/>
          <p:cNvSpPr/>
          <p:nvPr/>
        </p:nvSpPr>
        <p:spPr>
          <a:xfrm>
            <a:off x="3410712" y="2670048"/>
            <a:ext cx="1643634" cy="3163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6FAFF"/>
                </a:solidFill>
              </a:rPr>
              <a:t>• Privacy policy, terms and in-app consent flows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6FAFF"/>
                </a:solidFill>
              </a:rPr>
              <a:t>• Health disclaimer and claim review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6FAFF"/>
                </a:solidFill>
              </a:rPr>
              <a:t>• Data map and retention logic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328666" y="1847088"/>
            <a:ext cx="1936242" cy="4407408"/>
          </a:xfrm>
          <a:prstGeom prst="roundRect">
            <a:avLst>
              <a:gd name="adj" fmla="val 3778"/>
            </a:avLst>
          </a:prstGeom>
          <a:solidFill>
            <a:srgbClr val="0B1E3D">
              <a:alpha val="88000"/>
            </a:srgbClr>
          </a:solidFill>
          <a:ln w="12700">
            <a:solidFill>
              <a:srgbClr val="24436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351526" y="1920240"/>
            <a:ext cx="36576" cy="4261104"/>
          </a:xfrm>
          <a:prstGeom prst="rect">
            <a:avLst/>
          </a:prstGeom>
          <a:solidFill>
            <a:srgbClr val="57A8FF"/>
          </a:solidFill>
          <a:ln w="12700">
            <a:solidFill>
              <a:srgbClr val="57A8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93258" y="2011680"/>
            <a:ext cx="166192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10" b="1" dirty="0">
                <a:solidFill>
                  <a:srgbClr val="F6FAFF"/>
                </a:solidFill>
              </a:rPr>
              <a:t>Compliance depth</a:t>
            </a:r>
            <a:endParaRPr lang="en-US" sz="1510" dirty="0"/>
          </a:p>
        </p:txBody>
      </p:sp>
      <p:sp>
        <p:nvSpPr>
          <p:cNvPr id="26" name="Text 24"/>
          <p:cNvSpPr/>
          <p:nvPr/>
        </p:nvSpPr>
        <p:spPr>
          <a:xfrm>
            <a:off x="5493258" y="2286000"/>
            <a:ext cx="166192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i="1" dirty="0">
                <a:solidFill>
                  <a:srgbClr val="B9C5D9"/>
                </a:solidFill>
              </a:rPr>
              <a:t>Reduce future risk</a:t>
            </a:r>
            <a:endParaRPr lang="en-US" sz="1020" dirty="0"/>
          </a:p>
        </p:txBody>
      </p:sp>
      <p:sp>
        <p:nvSpPr>
          <p:cNvPr id="27" name="Text 25"/>
          <p:cNvSpPr/>
          <p:nvPr/>
        </p:nvSpPr>
        <p:spPr>
          <a:xfrm>
            <a:off x="5493258" y="2670048"/>
            <a:ext cx="1643634" cy="3163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6FAFF"/>
                </a:solidFill>
              </a:rPr>
              <a:t>• GDPR review and controller / processor mapping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6FAFF"/>
                </a:solidFill>
              </a:rPr>
              <a:t>• DPIA-style risk review for sensitive flows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6FAFF"/>
                </a:solidFill>
              </a:rPr>
              <a:t>• Incident response and deletion process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411212" y="1847088"/>
            <a:ext cx="1936242" cy="4407408"/>
          </a:xfrm>
          <a:prstGeom prst="roundRect">
            <a:avLst>
              <a:gd name="adj" fmla="val 3778"/>
            </a:avLst>
          </a:prstGeom>
          <a:solidFill>
            <a:srgbClr val="0B1E3D">
              <a:alpha val="88000"/>
            </a:srgbClr>
          </a:solidFill>
          <a:ln w="12700">
            <a:solidFill>
              <a:srgbClr val="24436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434072" y="1920240"/>
            <a:ext cx="36576" cy="4261104"/>
          </a:xfrm>
          <a:prstGeom prst="rect">
            <a:avLst/>
          </a:prstGeom>
          <a:solidFill>
            <a:srgbClr val="F1C84B"/>
          </a:solidFill>
          <a:ln w="12700">
            <a:solidFill>
              <a:srgbClr val="F1C84B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75804" y="2011680"/>
            <a:ext cx="166192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10" b="1" dirty="0">
                <a:solidFill>
                  <a:srgbClr val="F6FAFF"/>
                </a:solidFill>
              </a:rPr>
              <a:t>Integration guardrails</a:t>
            </a:r>
            <a:endParaRPr lang="en-US" sz="1510" dirty="0"/>
          </a:p>
        </p:txBody>
      </p:sp>
      <p:sp>
        <p:nvSpPr>
          <p:cNvPr id="31" name="Text 29"/>
          <p:cNvSpPr/>
          <p:nvPr/>
        </p:nvSpPr>
        <p:spPr>
          <a:xfrm>
            <a:off x="7575804" y="2286000"/>
            <a:ext cx="166192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i="1" dirty="0">
                <a:solidFill>
                  <a:srgbClr val="B9C5D9"/>
                </a:solidFill>
              </a:rPr>
              <a:t>Only approved routes</a:t>
            </a:r>
            <a:endParaRPr lang="en-US" sz="1020" dirty="0"/>
          </a:p>
        </p:txBody>
      </p:sp>
      <p:sp>
        <p:nvSpPr>
          <p:cNvPr id="32" name="Text 30"/>
          <p:cNvSpPr/>
          <p:nvPr/>
        </p:nvSpPr>
        <p:spPr>
          <a:xfrm>
            <a:off x="7575804" y="2670048"/>
            <a:ext cx="1643634" cy="3163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6FAFF"/>
                </a:solidFill>
              </a:rPr>
              <a:t>• Review Apple / Google broker permissions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6FAFF"/>
                </a:solidFill>
              </a:rPr>
              <a:t>• Strava and vendor terms-by-source matrix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6FAFF"/>
                </a:solidFill>
              </a:rPr>
              <a:t>• No scraping or unsupported credential sharing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9493758" y="1847088"/>
            <a:ext cx="1936242" cy="4407408"/>
          </a:xfrm>
          <a:prstGeom prst="roundRect">
            <a:avLst>
              <a:gd name="adj" fmla="val 3778"/>
            </a:avLst>
          </a:prstGeom>
          <a:solidFill>
            <a:srgbClr val="0B1E3D">
              <a:alpha val="88000"/>
            </a:srgbClr>
          </a:solidFill>
          <a:ln w="12700">
            <a:solidFill>
              <a:srgbClr val="24436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516618" y="1920240"/>
            <a:ext cx="36576" cy="4261104"/>
          </a:xfrm>
          <a:prstGeom prst="rect">
            <a:avLst/>
          </a:prstGeom>
          <a:solidFill>
            <a:srgbClr val="FF5DB7"/>
          </a:solidFill>
          <a:ln w="12700">
            <a:solidFill>
              <a:srgbClr val="FF5DB7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658350" y="2011680"/>
            <a:ext cx="166192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10" b="1" dirty="0">
                <a:solidFill>
                  <a:srgbClr val="F6FAFF"/>
                </a:solidFill>
              </a:rPr>
              <a:t>Expansion readiness</a:t>
            </a:r>
            <a:endParaRPr lang="en-US" sz="1510" dirty="0"/>
          </a:p>
        </p:txBody>
      </p:sp>
      <p:sp>
        <p:nvSpPr>
          <p:cNvPr id="36" name="Text 34"/>
          <p:cNvSpPr/>
          <p:nvPr/>
        </p:nvSpPr>
        <p:spPr>
          <a:xfrm>
            <a:off x="9658350" y="2286000"/>
            <a:ext cx="166192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i="1" dirty="0">
                <a:solidFill>
                  <a:srgbClr val="B9C5D9"/>
                </a:solidFill>
              </a:rPr>
              <a:t>Prepare for scale</a:t>
            </a:r>
            <a:endParaRPr lang="en-US" sz="1020" dirty="0"/>
          </a:p>
        </p:txBody>
      </p:sp>
      <p:sp>
        <p:nvSpPr>
          <p:cNvPr id="37" name="Text 35"/>
          <p:cNvSpPr/>
          <p:nvPr/>
        </p:nvSpPr>
        <p:spPr>
          <a:xfrm>
            <a:off x="9658350" y="2670048"/>
            <a:ext cx="1643634" cy="3163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6FAFF"/>
                </a:solidFill>
              </a:rPr>
              <a:t>• Counsel review before direct health integrations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6FAFF"/>
                </a:solidFill>
              </a:rPr>
              <a:t>• Partner-grade handling standards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6FAFF"/>
                </a:solidFill>
              </a:rPr>
              <a:t>• Hosted sync security posture and audit basics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28232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F90A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6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Track 4 – Branding + go-to-market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58368" y="768096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B9C5D9"/>
                </a:solidFill>
              </a:rPr>
              <a:t>The product will win if people instantly understand what it solves: signal versus noise in everyday weight change.</a:t>
            </a:r>
            <a:endParaRPr lang="en-US" sz="1140" dirty="0"/>
          </a:p>
        </p:txBody>
      </p:sp>
      <p:sp>
        <p:nvSpPr>
          <p:cNvPr id="4" name="Shape 2"/>
          <p:cNvSpPr/>
          <p:nvPr/>
        </p:nvSpPr>
        <p:spPr>
          <a:xfrm>
            <a:off x="3246120" y="1353312"/>
            <a:ext cx="1936242" cy="384048"/>
          </a:xfrm>
          <a:prstGeom prst="roundRect">
            <a:avLst>
              <a:gd name="adj" fmla="val 14286"/>
            </a:avLst>
          </a:prstGeom>
          <a:solidFill>
            <a:srgbClr val="0A203F"/>
          </a:solidFill>
          <a:ln w="12700">
            <a:solidFill>
              <a:srgbClr val="12D2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355848" y="1389888"/>
            <a:ext cx="17716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12D2FF"/>
                </a:solidFill>
              </a:rPr>
              <a:t>Phase 1</a:t>
            </a:r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6FAFF"/>
                </a:solidFill>
              </a:rPr>
              <a:t>Foundation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5328666" y="1353312"/>
            <a:ext cx="1936242" cy="384048"/>
          </a:xfrm>
          <a:prstGeom prst="roundRect">
            <a:avLst>
              <a:gd name="adj" fmla="val 14286"/>
            </a:avLst>
          </a:prstGeom>
          <a:solidFill>
            <a:srgbClr val="0A203F"/>
          </a:solidFill>
          <a:ln w="12700">
            <a:solidFill>
              <a:srgbClr val="57A8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38394" y="1389888"/>
            <a:ext cx="17716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57A8FF"/>
                </a:solidFill>
              </a:rPr>
              <a:t>Phase 2</a:t>
            </a:r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6FAFF"/>
                </a:solidFill>
              </a:rPr>
              <a:t>Trust MVP</a:t>
            </a:r>
            <a:endParaRPr lang="en-US" sz="1020" dirty="0"/>
          </a:p>
        </p:txBody>
      </p:sp>
      <p:sp>
        <p:nvSpPr>
          <p:cNvPr id="8" name="Shape 6"/>
          <p:cNvSpPr/>
          <p:nvPr/>
        </p:nvSpPr>
        <p:spPr>
          <a:xfrm>
            <a:off x="7411212" y="1353312"/>
            <a:ext cx="1936242" cy="384048"/>
          </a:xfrm>
          <a:prstGeom prst="roundRect">
            <a:avLst>
              <a:gd name="adj" fmla="val 14286"/>
            </a:avLst>
          </a:prstGeom>
          <a:solidFill>
            <a:srgbClr val="0A203F"/>
          </a:solidFill>
          <a:ln w="12700">
            <a:solidFill>
              <a:srgbClr val="F1C8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20940" y="1389888"/>
            <a:ext cx="17716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F1C84B"/>
                </a:solidFill>
              </a:rPr>
              <a:t>Phase 3</a:t>
            </a:r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6FAFF"/>
                </a:solidFill>
              </a:rPr>
              <a:t>Convenience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9493758" y="1353312"/>
            <a:ext cx="1936242" cy="384048"/>
          </a:xfrm>
          <a:prstGeom prst="roundRect">
            <a:avLst>
              <a:gd name="adj" fmla="val 14286"/>
            </a:avLst>
          </a:prstGeom>
          <a:solidFill>
            <a:srgbClr val="0A203F"/>
          </a:solidFill>
          <a:ln w="12700">
            <a:solidFill>
              <a:srgbClr val="FF5DB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3486" y="1389888"/>
            <a:ext cx="17716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FF5DB7"/>
                </a:solidFill>
              </a:rPr>
              <a:t>Phase 4</a:t>
            </a:r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6FAFF"/>
                </a:solidFill>
              </a:rPr>
              <a:t>Scale &amp; Monetize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658368" y="1353312"/>
            <a:ext cx="2249424" cy="4901184"/>
          </a:xfrm>
          <a:prstGeom prst="roundRect">
            <a:avLst>
              <a:gd name="adj" fmla="val 3252"/>
            </a:avLst>
          </a:prstGeom>
          <a:solidFill>
            <a:srgbClr val="0B1E3D">
              <a:alpha val="88000"/>
            </a:srgbClr>
          </a:solidFill>
          <a:ln w="12700">
            <a:solidFill>
              <a:srgbClr val="24436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1228" y="1426464"/>
            <a:ext cx="36576" cy="4754880"/>
          </a:xfrm>
          <a:prstGeom prst="rect">
            <a:avLst/>
          </a:prstGeom>
          <a:solidFill>
            <a:srgbClr val="31F0C7"/>
          </a:solidFill>
          <a:ln w="12700">
            <a:solidFill>
              <a:srgbClr val="31F0C7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9536" y="160934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6FAFF"/>
                </a:solidFill>
              </a:rPr>
              <a:t>Brand objective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59536" y="2029968"/>
            <a:ext cx="1737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10" dirty="0">
                <a:solidFill>
                  <a:srgbClr val="B9C5D9"/>
                </a:solidFill>
              </a:rPr>
              <a:t>Position MY PENS as a premium interpretation product for ordinary trackers and slightly sportive users—not a generic wellness app and not a biohacker toy.</a:t>
            </a:r>
            <a:endParaRPr lang="en-US" sz="1310" dirty="0"/>
          </a:p>
        </p:txBody>
      </p:sp>
      <p:sp>
        <p:nvSpPr>
          <p:cNvPr id="16" name="Text 14"/>
          <p:cNvSpPr/>
          <p:nvPr/>
        </p:nvSpPr>
        <p:spPr>
          <a:xfrm>
            <a:off x="859536" y="4370832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10" b="1" dirty="0">
                <a:solidFill>
                  <a:srgbClr val="F1C84B"/>
                </a:solidFill>
              </a:rPr>
              <a:t>What success looks like</a:t>
            </a:r>
            <a:endParaRPr lang="en-US" sz="1110" dirty="0"/>
          </a:p>
        </p:txBody>
      </p:sp>
      <p:sp>
        <p:nvSpPr>
          <p:cNvPr id="17" name="Text 15"/>
          <p:cNvSpPr/>
          <p:nvPr/>
        </p:nvSpPr>
        <p:spPr>
          <a:xfrm>
            <a:off x="859536" y="4626864"/>
            <a:ext cx="17190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B9C5D9"/>
                </a:solidFill>
              </a:rPr>
              <a:t>• A stranger understands the value in one sentence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B9C5D9"/>
                </a:solidFill>
              </a:rPr>
              <a:t>• Messaging matches the product’s humility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B9C5D9"/>
                </a:solidFill>
              </a:rPr>
              <a:t>• The first users know whether it is for them</a:t>
            </a:r>
            <a:endParaRPr lang="en-US" sz="1110" dirty="0"/>
          </a:p>
        </p:txBody>
      </p:sp>
      <p:sp>
        <p:nvSpPr>
          <p:cNvPr id="18" name="Shape 16"/>
          <p:cNvSpPr/>
          <p:nvPr/>
        </p:nvSpPr>
        <p:spPr>
          <a:xfrm>
            <a:off x="3246120" y="1847088"/>
            <a:ext cx="1936242" cy="4407408"/>
          </a:xfrm>
          <a:prstGeom prst="roundRect">
            <a:avLst>
              <a:gd name="adj" fmla="val 3778"/>
            </a:avLst>
          </a:prstGeom>
          <a:solidFill>
            <a:srgbClr val="0B1E3D">
              <a:alpha val="88000"/>
            </a:srgbClr>
          </a:solidFill>
          <a:ln w="12700">
            <a:solidFill>
              <a:srgbClr val="24436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68980" y="1920240"/>
            <a:ext cx="36576" cy="4261104"/>
          </a:xfrm>
          <a:prstGeom prst="rect">
            <a:avLst/>
          </a:prstGeom>
          <a:solidFill>
            <a:srgbClr val="12D2FF"/>
          </a:solidFill>
          <a:ln w="12700">
            <a:solidFill>
              <a:srgbClr val="12D2F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10712" y="2011680"/>
            <a:ext cx="166192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10" b="1" dirty="0">
                <a:solidFill>
                  <a:srgbClr val="F6FAFF"/>
                </a:solidFill>
              </a:rPr>
              <a:t>Message foundation</a:t>
            </a:r>
            <a:endParaRPr lang="en-US" sz="1510" dirty="0"/>
          </a:p>
        </p:txBody>
      </p:sp>
      <p:sp>
        <p:nvSpPr>
          <p:cNvPr id="21" name="Text 19"/>
          <p:cNvSpPr/>
          <p:nvPr/>
        </p:nvSpPr>
        <p:spPr>
          <a:xfrm>
            <a:off x="3410712" y="2286000"/>
            <a:ext cx="166192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i="1" dirty="0">
                <a:solidFill>
                  <a:srgbClr val="B9C5D9"/>
                </a:solidFill>
              </a:rPr>
              <a:t>Name the problem well</a:t>
            </a:r>
            <a:endParaRPr lang="en-US" sz="1020" dirty="0"/>
          </a:p>
        </p:txBody>
      </p:sp>
      <p:sp>
        <p:nvSpPr>
          <p:cNvPr id="22" name="Text 20"/>
          <p:cNvSpPr/>
          <p:nvPr/>
        </p:nvSpPr>
        <p:spPr>
          <a:xfrm>
            <a:off x="3410712" y="2670048"/>
            <a:ext cx="1643634" cy="3163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6FAFF"/>
                </a:solidFill>
              </a:rPr>
              <a:t>• Refine promise: raw weight versus useful signal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6FAFF"/>
                </a:solidFill>
              </a:rPr>
              <a:t>• Audience language for ordinary trackers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6FAFF"/>
                </a:solidFill>
              </a:rPr>
              <a:t>• Landing page and first proof story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328666" y="1847088"/>
            <a:ext cx="1936242" cy="4407408"/>
          </a:xfrm>
          <a:prstGeom prst="roundRect">
            <a:avLst>
              <a:gd name="adj" fmla="val 3778"/>
            </a:avLst>
          </a:prstGeom>
          <a:solidFill>
            <a:srgbClr val="0B1E3D">
              <a:alpha val="88000"/>
            </a:srgbClr>
          </a:solidFill>
          <a:ln w="12700">
            <a:solidFill>
              <a:srgbClr val="24436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351526" y="1920240"/>
            <a:ext cx="36576" cy="4261104"/>
          </a:xfrm>
          <a:prstGeom prst="rect">
            <a:avLst/>
          </a:prstGeom>
          <a:solidFill>
            <a:srgbClr val="57A8FF"/>
          </a:solidFill>
          <a:ln w="12700">
            <a:solidFill>
              <a:srgbClr val="57A8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93258" y="2011680"/>
            <a:ext cx="166192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10" b="1" dirty="0">
                <a:solidFill>
                  <a:srgbClr val="F6FAFF"/>
                </a:solidFill>
              </a:rPr>
              <a:t>Narrative fit</a:t>
            </a:r>
            <a:endParaRPr lang="en-US" sz="1510" dirty="0"/>
          </a:p>
        </p:txBody>
      </p:sp>
      <p:sp>
        <p:nvSpPr>
          <p:cNvPr id="26" name="Text 24"/>
          <p:cNvSpPr/>
          <p:nvPr/>
        </p:nvSpPr>
        <p:spPr>
          <a:xfrm>
            <a:off x="5493258" y="2286000"/>
            <a:ext cx="166192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i="1" dirty="0">
                <a:solidFill>
                  <a:srgbClr val="B9C5D9"/>
                </a:solidFill>
              </a:rPr>
              <a:t>Show, do not lecture</a:t>
            </a:r>
            <a:endParaRPr lang="en-US" sz="1020" dirty="0"/>
          </a:p>
        </p:txBody>
      </p:sp>
      <p:sp>
        <p:nvSpPr>
          <p:cNvPr id="27" name="Text 25"/>
          <p:cNvSpPr/>
          <p:nvPr/>
        </p:nvSpPr>
        <p:spPr>
          <a:xfrm>
            <a:off x="5493258" y="2670048"/>
            <a:ext cx="1643634" cy="3163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6FAFF"/>
                </a:solidFill>
              </a:rPr>
              <a:t>• Trip rebound / noisy weigh-in walkthrough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6FAFF"/>
                </a:solidFill>
              </a:rPr>
              <a:t>• Before-and-after screenshots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6FAFF"/>
                </a:solidFill>
              </a:rPr>
              <a:t>• Trust language that avoids pseudo-science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411212" y="1847088"/>
            <a:ext cx="1936242" cy="4407408"/>
          </a:xfrm>
          <a:prstGeom prst="roundRect">
            <a:avLst>
              <a:gd name="adj" fmla="val 3778"/>
            </a:avLst>
          </a:prstGeom>
          <a:solidFill>
            <a:srgbClr val="0B1E3D">
              <a:alpha val="88000"/>
            </a:srgbClr>
          </a:solidFill>
          <a:ln w="12700">
            <a:solidFill>
              <a:srgbClr val="24436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434072" y="1920240"/>
            <a:ext cx="36576" cy="4261104"/>
          </a:xfrm>
          <a:prstGeom prst="rect">
            <a:avLst/>
          </a:prstGeom>
          <a:solidFill>
            <a:srgbClr val="F1C84B"/>
          </a:solidFill>
          <a:ln w="12700">
            <a:solidFill>
              <a:srgbClr val="F1C84B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75804" y="2011680"/>
            <a:ext cx="166192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10" b="1" dirty="0">
                <a:solidFill>
                  <a:srgbClr val="F6FAFF"/>
                </a:solidFill>
              </a:rPr>
              <a:t>Acquisition loops</a:t>
            </a:r>
            <a:endParaRPr lang="en-US" sz="1510" dirty="0"/>
          </a:p>
        </p:txBody>
      </p:sp>
      <p:sp>
        <p:nvSpPr>
          <p:cNvPr id="31" name="Text 29"/>
          <p:cNvSpPr/>
          <p:nvPr/>
        </p:nvSpPr>
        <p:spPr>
          <a:xfrm>
            <a:off x="7575804" y="2286000"/>
            <a:ext cx="166192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i="1" dirty="0">
                <a:solidFill>
                  <a:srgbClr val="B9C5D9"/>
                </a:solidFill>
              </a:rPr>
              <a:t>Lean, niche GTM</a:t>
            </a:r>
            <a:endParaRPr lang="en-US" sz="1020" dirty="0"/>
          </a:p>
        </p:txBody>
      </p:sp>
      <p:sp>
        <p:nvSpPr>
          <p:cNvPr id="32" name="Text 30"/>
          <p:cNvSpPr/>
          <p:nvPr/>
        </p:nvSpPr>
        <p:spPr>
          <a:xfrm>
            <a:off x="7575804" y="2670048"/>
            <a:ext cx="1643634" cy="3163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6FAFF"/>
                </a:solidFill>
              </a:rPr>
              <a:t>• Creator / coach seeding and waitlist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6FAFF"/>
                </a:solidFill>
              </a:rPr>
              <a:t>• Referral hooks around explanation moments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6FAFF"/>
                </a:solidFill>
              </a:rPr>
              <a:t>• Email onboarding and habit education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9493758" y="1847088"/>
            <a:ext cx="1936242" cy="4407408"/>
          </a:xfrm>
          <a:prstGeom prst="roundRect">
            <a:avLst>
              <a:gd name="adj" fmla="val 3778"/>
            </a:avLst>
          </a:prstGeom>
          <a:solidFill>
            <a:srgbClr val="0B1E3D">
              <a:alpha val="88000"/>
            </a:srgbClr>
          </a:solidFill>
          <a:ln w="12700">
            <a:solidFill>
              <a:srgbClr val="24436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516618" y="1920240"/>
            <a:ext cx="36576" cy="4261104"/>
          </a:xfrm>
          <a:prstGeom prst="rect">
            <a:avLst/>
          </a:prstGeom>
          <a:solidFill>
            <a:srgbClr val="FF5DB7"/>
          </a:solidFill>
          <a:ln w="12700">
            <a:solidFill>
              <a:srgbClr val="FF5DB7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658350" y="2011680"/>
            <a:ext cx="166192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10" b="1" dirty="0">
                <a:solidFill>
                  <a:srgbClr val="F6FAFF"/>
                </a:solidFill>
              </a:rPr>
              <a:t>Commercial framing</a:t>
            </a:r>
            <a:endParaRPr lang="en-US" sz="1510" dirty="0"/>
          </a:p>
        </p:txBody>
      </p:sp>
      <p:sp>
        <p:nvSpPr>
          <p:cNvPr id="36" name="Text 34"/>
          <p:cNvSpPr/>
          <p:nvPr/>
        </p:nvSpPr>
        <p:spPr>
          <a:xfrm>
            <a:off x="9658350" y="2286000"/>
            <a:ext cx="166192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i="1" dirty="0">
                <a:solidFill>
                  <a:srgbClr val="B9C5D9"/>
                </a:solidFill>
              </a:rPr>
              <a:t>Premium but focused</a:t>
            </a:r>
            <a:endParaRPr lang="en-US" sz="1020" dirty="0"/>
          </a:p>
        </p:txBody>
      </p:sp>
      <p:sp>
        <p:nvSpPr>
          <p:cNvPr id="37" name="Text 35"/>
          <p:cNvSpPr/>
          <p:nvPr/>
        </p:nvSpPr>
        <p:spPr>
          <a:xfrm>
            <a:off x="9658350" y="2670048"/>
            <a:ext cx="1643634" cy="3163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6FAFF"/>
                </a:solidFill>
              </a:rPr>
              <a:t>• Clear free versus paid structure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6FAFF"/>
                </a:solidFill>
              </a:rPr>
              <a:t>• Partnership stories and social proof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6FAFF"/>
                </a:solidFill>
              </a:rPr>
              <a:t>• Investor-ready traction narrative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28232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F90A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6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Track 5 – Integrations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58368" y="768096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B9C5D9"/>
                </a:solidFill>
              </a:rPr>
              <a:t>The smartest order is not “everything first.” It is the highest convenience-to-effort path, with clean legal routes.</a:t>
            </a:r>
            <a:endParaRPr lang="en-US" sz="1140" dirty="0"/>
          </a:p>
        </p:txBody>
      </p:sp>
      <p:sp>
        <p:nvSpPr>
          <p:cNvPr id="4" name="Shape 2"/>
          <p:cNvSpPr/>
          <p:nvPr/>
        </p:nvSpPr>
        <p:spPr>
          <a:xfrm>
            <a:off x="3246120" y="1353312"/>
            <a:ext cx="1936242" cy="384048"/>
          </a:xfrm>
          <a:prstGeom prst="roundRect">
            <a:avLst>
              <a:gd name="adj" fmla="val 14286"/>
            </a:avLst>
          </a:prstGeom>
          <a:solidFill>
            <a:srgbClr val="0A203F"/>
          </a:solidFill>
          <a:ln w="12700">
            <a:solidFill>
              <a:srgbClr val="12D2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355848" y="1389888"/>
            <a:ext cx="17716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12D2FF"/>
                </a:solidFill>
              </a:rPr>
              <a:t>Phase 1</a:t>
            </a:r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6FAFF"/>
                </a:solidFill>
              </a:rPr>
              <a:t>Foundation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5328666" y="1353312"/>
            <a:ext cx="1936242" cy="384048"/>
          </a:xfrm>
          <a:prstGeom prst="roundRect">
            <a:avLst>
              <a:gd name="adj" fmla="val 14286"/>
            </a:avLst>
          </a:prstGeom>
          <a:solidFill>
            <a:srgbClr val="0A203F"/>
          </a:solidFill>
          <a:ln w="12700">
            <a:solidFill>
              <a:srgbClr val="57A8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38394" y="1389888"/>
            <a:ext cx="17716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57A8FF"/>
                </a:solidFill>
              </a:rPr>
              <a:t>Phase 2</a:t>
            </a:r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6FAFF"/>
                </a:solidFill>
              </a:rPr>
              <a:t>Trust MVP</a:t>
            </a:r>
            <a:endParaRPr lang="en-US" sz="1020" dirty="0"/>
          </a:p>
        </p:txBody>
      </p:sp>
      <p:sp>
        <p:nvSpPr>
          <p:cNvPr id="8" name="Shape 6"/>
          <p:cNvSpPr/>
          <p:nvPr/>
        </p:nvSpPr>
        <p:spPr>
          <a:xfrm>
            <a:off x="7411212" y="1353312"/>
            <a:ext cx="1936242" cy="384048"/>
          </a:xfrm>
          <a:prstGeom prst="roundRect">
            <a:avLst>
              <a:gd name="adj" fmla="val 14286"/>
            </a:avLst>
          </a:prstGeom>
          <a:solidFill>
            <a:srgbClr val="0A203F"/>
          </a:solidFill>
          <a:ln w="12700">
            <a:solidFill>
              <a:srgbClr val="F1C8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20940" y="1389888"/>
            <a:ext cx="17716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F1C84B"/>
                </a:solidFill>
              </a:rPr>
              <a:t>Phase 3</a:t>
            </a:r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6FAFF"/>
                </a:solidFill>
              </a:rPr>
              <a:t>Convenience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9493758" y="1353312"/>
            <a:ext cx="1936242" cy="384048"/>
          </a:xfrm>
          <a:prstGeom prst="roundRect">
            <a:avLst>
              <a:gd name="adj" fmla="val 14286"/>
            </a:avLst>
          </a:prstGeom>
          <a:solidFill>
            <a:srgbClr val="0A203F"/>
          </a:solidFill>
          <a:ln w="12700">
            <a:solidFill>
              <a:srgbClr val="FF5DB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3486" y="1389888"/>
            <a:ext cx="17716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FF5DB7"/>
                </a:solidFill>
              </a:rPr>
              <a:t>Phase 4</a:t>
            </a:r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6FAFF"/>
                </a:solidFill>
              </a:rPr>
              <a:t>Scale &amp; Monetize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658368" y="1353312"/>
            <a:ext cx="2249424" cy="4901184"/>
          </a:xfrm>
          <a:prstGeom prst="roundRect">
            <a:avLst>
              <a:gd name="adj" fmla="val 3252"/>
            </a:avLst>
          </a:prstGeom>
          <a:solidFill>
            <a:srgbClr val="0B1E3D">
              <a:alpha val="88000"/>
            </a:srgbClr>
          </a:solidFill>
          <a:ln w="12700">
            <a:solidFill>
              <a:srgbClr val="24436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1228" y="1426464"/>
            <a:ext cx="36576" cy="4754880"/>
          </a:xfrm>
          <a:prstGeom prst="rect">
            <a:avLst/>
          </a:prstGeom>
          <a:solidFill>
            <a:srgbClr val="31F0C7"/>
          </a:solidFill>
          <a:ln w="12700">
            <a:solidFill>
              <a:srgbClr val="31F0C7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9536" y="160934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6FAFF"/>
                </a:solidFill>
              </a:rPr>
              <a:t>Integration rule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59536" y="2029968"/>
            <a:ext cx="1737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10" dirty="0">
                <a:solidFill>
                  <a:srgbClr val="B9C5D9"/>
                </a:solidFill>
              </a:rPr>
              <a:t>Use one internal data model. Let external sources suggest data into it. Keep users in control with editable entries and visible source provenance.</a:t>
            </a:r>
            <a:endParaRPr lang="en-US" sz="1310" dirty="0"/>
          </a:p>
        </p:txBody>
      </p:sp>
      <p:sp>
        <p:nvSpPr>
          <p:cNvPr id="16" name="Text 14"/>
          <p:cNvSpPr/>
          <p:nvPr/>
        </p:nvSpPr>
        <p:spPr>
          <a:xfrm>
            <a:off x="859536" y="4370832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10" b="1" dirty="0">
                <a:solidFill>
                  <a:srgbClr val="F1C84B"/>
                </a:solidFill>
              </a:rPr>
              <a:t>What success looks like</a:t>
            </a:r>
            <a:endParaRPr lang="en-US" sz="1110" dirty="0"/>
          </a:p>
        </p:txBody>
      </p:sp>
      <p:sp>
        <p:nvSpPr>
          <p:cNvPr id="17" name="Text 15"/>
          <p:cNvSpPr/>
          <p:nvPr/>
        </p:nvSpPr>
        <p:spPr>
          <a:xfrm>
            <a:off x="859536" y="4626864"/>
            <a:ext cx="17190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B9C5D9"/>
                </a:solidFill>
              </a:rPr>
              <a:t>• High-value import coverage without fragile dependencies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B9C5D9"/>
                </a:solidFill>
              </a:rPr>
              <a:t>• A clear hierarchy of source trust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B9C5D9"/>
                </a:solidFill>
              </a:rPr>
              <a:t>• Integrations that support the wedge instead of bloating the product</a:t>
            </a:r>
            <a:endParaRPr lang="en-US" sz="1110" dirty="0"/>
          </a:p>
        </p:txBody>
      </p:sp>
      <p:sp>
        <p:nvSpPr>
          <p:cNvPr id="18" name="Shape 16"/>
          <p:cNvSpPr/>
          <p:nvPr/>
        </p:nvSpPr>
        <p:spPr>
          <a:xfrm>
            <a:off x="3246120" y="1847088"/>
            <a:ext cx="1936242" cy="4407408"/>
          </a:xfrm>
          <a:prstGeom prst="roundRect">
            <a:avLst>
              <a:gd name="adj" fmla="val 3778"/>
            </a:avLst>
          </a:prstGeom>
          <a:solidFill>
            <a:srgbClr val="0B1E3D">
              <a:alpha val="88000"/>
            </a:srgbClr>
          </a:solidFill>
          <a:ln w="12700">
            <a:solidFill>
              <a:srgbClr val="24436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68980" y="1920240"/>
            <a:ext cx="36576" cy="4261104"/>
          </a:xfrm>
          <a:prstGeom prst="rect">
            <a:avLst/>
          </a:prstGeom>
          <a:solidFill>
            <a:srgbClr val="12D2FF"/>
          </a:solidFill>
          <a:ln w="12700">
            <a:solidFill>
              <a:srgbClr val="12D2F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10712" y="2011680"/>
            <a:ext cx="166192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10" b="1" dirty="0">
                <a:solidFill>
                  <a:srgbClr val="F6FAFF"/>
                </a:solidFill>
              </a:rPr>
              <a:t>Manual first</a:t>
            </a:r>
            <a:endParaRPr lang="en-US" sz="1510" dirty="0"/>
          </a:p>
        </p:txBody>
      </p:sp>
      <p:sp>
        <p:nvSpPr>
          <p:cNvPr id="21" name="Text 19"/>
          <p:cNvSpPr/>
          <p:nvPr/>
        </p:nvSpPr>
        <p:spPr>
          <a:xfrm>
            <a:off x="3410712" y="2286000"/>
            <a:ext cx="166192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i="1" dirty="0">
                <a:solidFill>
                  <a:srgbClr val="B9C5D9"/>
                </a:solidFill>
              </a:rPr>
              <a:t>Always keep a clean fallback</a:t>
            </a:r>
            <a:endParaRPr lang="en-US" sz="1020" dirty="0"/>
          </a:p>
        </p:txBody>
      </p:sp>
      <p:sp>
        <p:nvSpPr>
          <p:cNvPr id="22" name="Text 20"/>
          <p:cNvSpPr/>
          <p:nvPr/>
        </p:nvSpPr>
        <p:spPr>
          <a:xfrm>
            <a:off x="3410712" y="2670048"/>
            <a:ext cx="1643634" cy="3163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6FAFF"/>
                </a:solidFill>
              </a:rPr>
              <a:t>• Fast manual entry for weight and body metrics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6FAFF"/>
                </a:solidFill>
              </a:rPr>
              <a:t>• CSV import and export basics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6FAFF"/>
                </a:solidFill>
              </a:rPr>
              <a:t>• Source labels and override rules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328666" y="1847088"/>
            <a:ext cx="1936242" cy="4407408"/>
          </a:xfrm>
          <a:prstGeom prst="roundRect">
            <a:avLst>
              <a:gd name="adj" fmla="val 3778"/>
            </a:avLst>
          </a:prstGeom>
          <a:solidFill>
            <a:srgbClr val="0B1E3D">
              <a:alpha val="88000"/>
            </a:srgbClr>
          </a:solidFill>
          <a:ln w="12700">
            <a:solidFill>
              <a:srgbClr val="24436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351526" y="1920240"/>
            <a:ext cx="36576" cy="4261104"/>
          </a:xfrm>
          <a:prstGeom prst="rect">
            <a:avLst/>
          </a:prstGeom>
          <a:solidFill>
            <a:srgbClr val="57A8FF"/>
          </a:solidFill>
          <a:ln w="12700">
            <a:solidFill>
              <a:srgbClr val="57A8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93258" y="2011680"/>
            <a:ext cx="166192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10" b="1" dirty="0">
                <a:solidFill>
                  <a:srgbClr val="F6FAFF"/>
                </a:solidFill>
              </a:rPr>
              <a:t>Broker integrations</a:t>
            </a:r>
            <a:endParaRPr lang="en-US" sz="1510" dirty="0"/>
          </a:p>
        </p:txBody>
      </p:sp>
      <p:sp>
        <p:nvSpPr>
          <p:cNvPr id="26" name="Text 24"/>
          <p:cNvSpPr/>
          <p:nvPr/>
        </p:nvSpPr>
        <p:spPr>
          <a:xfrm>
            <a:off x="5493258" y="2286000"/>
            <a:ext cx="166192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i="1" dirty="0">
                <a:solidFill>
                  <a:srgbClr val="B9C5D9"/>
                </a:solidFill>
              </a:rPr>
              <a:t>Broad, legal coverage</a:t>
            </a:r>
            <a:endParaRPr lang="en-US" sz="1020" dirty="0"/>
          </a:p>
        </p:txBody>
      </p:sp>
      <p:sp>
        <p:nvSpPr>
          <p:cNvPr id="27" name="Text 25"/>
          <p:cNvSpPr/>
          <p:nvPr/>
        </p:nvSpPr>
        <p:spPr>
          <a:xfrm>
            <a:off x="5493258" y="2670048"/>
            <a:ext cx="1643634" cy="3163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6FAFF"/>
                </a:solidFill>
              </a:rPr>
              <a:t>• Apple HealthKit and Android Health Connect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6FAFF"/>
                </a:solidFill>
              </a:rPr>
              <a:t>• Read permissions only where needed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6FAFF"/>
                </a:solidFill>
              </a:rPr>
              <a:t>• Cross-source mapping for workouts, sleep and weight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411212" y="1847088"/>
            <a:ext cx="1936242" cy="4407408"/>
          </a:xfrm>
          <a:prstGeom prst="roundRect">
            <a:avLst>
              <a:gd name="adj" fmla="val 3778"/>
            </a:avLst>
          </a:prstGeom>
          <a:solidFill>
            <a:srgbClr val="0B1E3D">
              <a:alpha val="88000"/>
            </a:srgbClr>
          </a:solidFill>
          <a:ln w="12700">
            <a:solidFill>
              <a:srgbClr val="24436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434072" y="1920240"/>
            <a:ext cx="36576" cy="4261104"/>
          </a:xfrm>
          <a:prstGeom prst="rect">
            <a:avLst/>
          </a:prstGeom>
          <a:solidFill>
            <a:srgbClr val="F1C84B"/>
          </a:solidFill>
          <a:ln w="12700">
            <a:solidFill>
              <a:srgbClr val="F1C84B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75804" y="2011680"/>
            <a:ext cx="166192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10" b="1" dirty="0">
                <a:solidFill>
                  <a:srgbClr val="F6FAFF"/>
                </a:solidFill>
              </a:rPr>
              <a:t>Direct convenience</a:t>
            </a:r>
            <a:endParaRPr lang="en-US" sz="1510" dirty="0"/>
          </a:p>
        </p:txBody>
      </p:sp>
      <p:sp>
        <p:nvSpPr>
          <p:cNvPr id="31" name="Text 29"/>
          <p:cNvSpPr/>
          <p:nvPr/>
        </p:nvSpPr>
        <p:spPr>
          <a:xfrm>
            <a:off x="7575804" y="2286000"/>
            <a:ext cx="166192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i="1" dirty="0">
                <a:solidFill>
                  <a:srgbClr val="B9C5D9"/>
                </a:solidFill>
              </a:rPr>
              <a:t>Where value is obvious</a:t>
            </a:r>
            <a:endParaRPr lang="en-US" sz="1020" dirty="0"/>
          </a:p>
        </p:txBody>
      </p:sp>
      <p:sp>
        <p:nvSpPr>
          <p:cNvPr id="32" name="Text 30"/>
          <p:cNvSpPr/>
          <p:nvPr/>
        </p:nvSpPr>
        <p:spPr>
          <a:xfrm>
            <a:off x="7575804" y="2670048"/>
            <a:ext cx="1643634" cy="3163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6FAFF"/>
                </a:solidFill>
              </a:rPr>
              <a:t>• Strava direct for workouts and context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6FAFF"/>
                </a:solidFill>
              </a:rPr>
              <a:t>• Garmin evaluated after broker learnings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6FAFF"/>
                </a:solidFill>
              </a:rPr>
              <a:t>• Import review screens to resolve duplicates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9493758" y="1847088"/>
            <a:ext cx="1936242" cy="4407408"/>
          </a:xfrm>
          <a:prstGeom prst="roundRect">
            <a:avLst>
              <a:gd name="adj" fmla="val 3778"/>
            </a:avLst>
          </a:prstGeom>
          <a:solidFill>
            <a:srgbClr val="0B1E3D">
              <a:alpha val="88000"/>
            </a:srgbClr>
          </a:solidFill>
          <a:ln w="12700">
            <a:solidFill>
              <a:srgbClr val="24436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516618" y="1920240"/>
            <a:ext cx="36576" cy="4261104"/>
          </a:xfrm>
          <a:prstGeom prst="rect">
            <a:avLst/>
          </a:prstGeom>
          <a:solidFill>
            <a:srgbClr val="FF5DB7"/>
          </a:solidFill>
          <a:ln w="12700">
            <a:solidFill>
              <a:srgbClr val="FF5DB7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658350" y="2011680"/>
            <a:ext cx="166192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10" b="1" dirty="0">
                <a:solidFill>
                  <a:srgbClr val="F6FAFF"/>
                </a:solidFill>
              </a:rPr>
              <a:t>Selective expansion</a:t>
            </a:r>
            <a:endParaRPr lang="en-US" sz="1510" dirty="0"/>
          </a:p>
        </p:txBody>
      </p:sp>
      <p:sp>
        <p:nvSpPr>
          <p:cNvPr id="36" name="Text 34"/>
          <p:cNvSpPr/>
          <p:nvPr/>
        </p:nvSpPr>
        <p:spPr>
          <a:xfrm>
            <a:off x="9658350" y="2286000"/>
            <a:ext cx="166192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i="1" dirty="0">
                <a:solidFill>
                  <a:srgbClr val="B9C5D9"/>
                </a:solidFill>
              </a:rPr>
              <a:t>Only if justified</a:t>
            </a:r>
            <a:endParaRPr lang="en-US" sz="1020" dirty="0"/>
          </a:p>
        </p:txBody>
      </p:sp>
      <p:sp>
        <p:nvSpPr>
          <p:cNvPr id="37" name="Text 35"/>
          <p:cNvSpPr/>
          <p:nvPr/>
        </p:nvSpPr>
        <p:spPr>
          <a:xfrm>
            <a:off x="9658350" y="2670048"/>
            <a:ext cx="1643634" cy="3163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6FAFF"/>
                </a:solidFill>
              </a:rPr>
              <a:t>• Tanita via approved route or export path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6FAFF"/>
                </a:solidFill>
              </a:rPr>
              <a:t>• Deeper vendor deals only when retention supports it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6FAFF"/>
                </a:solidFill>
              </a:rPr>
              <a:t>• No “sync with everything” promise until proven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28232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F90A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6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Strategic call: do not split into two separate apps yet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58368" y="768096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B9C5D9"/>
                </a:solidFill>
              </a:rPr>
              <a:t>The cleaner move is one product, two depths: simple by default, advanced by choice.</a:t>
            </a:r>
            <a:endParaRPr lang="en-US" sz="1140" dirty="0"/>
          </a:p>
        </p:txBody>
      </p:sp>
      <p:sp>
        <p:nvSpPr>
          <p:cNvPr id="4" name="Shape 2"/>
          <p:cNvSpPr/>
          <p:nvPr/>
        </p:nvSpPr>
        <p:spPr>
          <a:xfrm>
            <a:off x="658368" y="1417320"/>
            <a:ext cx="3657600" cy="4434840"/>
          </a:xfrm>
          <a:prstGeom prst="roundRect">
            <a:avLst>
              <a:gd name="adj" fmla="val 2000"/>
            </a:avLst>
          </a:prstGeom>
          <a:solidFill>
            <a:srgbClr val="0B1E3D">
              <a:alpha val="88000"/>
            </a:srgbClr>
          </a:solidFill>
          <a:ln w="12700">
            <a:solidFill>
              <a:srgbClr val="24436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1228" y="1490472"/>
            <a:ext cx="36576" cy="4288536"/>
          </a:xfrm>
          <a:prstGeom prst="rect">
            <a:avLst/>
          </a:prstGeom>
          <a:solidFill>
            <a:srgbClr val="12D2FF"/>
          </a:solidFill>
          <a:ln w="12700">
            <a:solidFill>
              <a:srgbClr val="12D2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" y="168249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D2FF"/>
                </a:solidFill>
              </a:rPr>
              <a:t>Recommended structure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77824" y="19933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6FAFF"/>
                </a:solidFill>
              </a:rPr>
              <a:t>One app. Two depths.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77824" y="2523744"/>
            <a:ext cx="3017520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60" dirty="0">
                <a:solidFill>
                  <a:srgbClr val="F6FAFF"/>
                </a:solidFill>
              </a:rPr>
              <a:t>• Default mode: easy tracking, clear explanations, low setup</a:t>
            </a:r>
            <a:endParaRPr lang="en-US" sz="1360" dirty="0"/>
          </a:p>
          <a:p>
            <a:pPr indent="0" marL="0">
              <a:buNone/>
            </a:pPr>
            <a:r>
              <a:rPr lang="en-US" sz="1360" dirty="0">
                <a:solidFill>
                  <a:srgbClr val="F6FAFF"/>
                </a:solidFill>
              </a:rPr>
              <a:t>• Advanced mode: local-first controls, deeper source management, richer reports</a:t>
            </a:r>
            <a:endParaRPr lang="en-US" sz="1360" dirty="0"/>
          </a:p>
          <a:p>
            <a:pPr indent="0" marL="0">
              <a:buNone/>
            </a:pPr>
            <a:r>
              <a:rPr lang="en-US" sz="1360" dirty="0">
                <a:solidFill>
                  <a:srgbClr val="F6FAFF"/>
                </a:solidFill>
              </a:rPr>
              <a:t>• Optional hosted sync later: convenience layer, not a second identity</a:t>
            </a:r>
            <a:endParaRPr lang="en-US" sz="1360" dirty="0"/>
          </a:p>
          <a:p>
            <a:pPr indent="0" marL="0">
              <a:buNone/>
            </a:pPr>
            <a:r>
              <a:rPr lang="en-US" sz="1360" dirty="0">
                <a:solidFill>
                  <a:srgbClr val="F6FAFF"/>
                </a:solidFill>
              </a:rPr>
              <a:t>• Same brand, same data model, same product promise</a:t>
            </a:r>
            <a:endParaRPr lang="en-US" sz="1360" dirty="0"/>
          </a:p>
        </p:txBody>
      </p:sp>
      <p:sp>
        <p:nvSpPr>
          <p:cNvPr id="9" name="Shape 7"/>
          <p:cNvSpPr/>
          <p:nvPr/>
        </p:nvSpPr>
        <p:spPr>
          <a:xfrm>
            <a:off x="4553712" y="1417320"/>
            <a:ext cx="2971800" cy="4434840"/>
          </a:xfrm>
          <a:prstGeom prst="roundRect">
            <a:avLst>
              <a:gd name="adj" fmla="val 2462"/>
            </a:avLst>
          </a:prstGeom>
          <a:solidFill>
            <a:srgbClr val="0B1E3D">
              <a:alpha val="88000"/>
            </a:srgbClr>
          </a:solidFill>
          <a:ln w="12700">
            <a:solidFill>
              <a:srgbClr val="24436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6572" y="1490472"/>
            <a:ext cx="36576" cy="4288536"/>
          </a:xfrm>
          <a:prstGeom prst="rect">
            <a:avLst/>
          </a:prstGeom>
          <a:solidFill>
            <a:srgbClr val="F1C84B"/>
          </a:solidFill>
          <a:ln w="12700">
            <a:solidFill>
              <a:srgbClr val="F1C84B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73168" y="1682496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C84B"/>
                </a:solidFill>
              </a:rPr>
              <a:t>Why this is better than splitting now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73168" y="2103120"/>
            <a:ext cx="224028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F6FAFF"/>
                </a:solidFill>
              </a:rPr>
              <a:t>• Avoids duplicate product and engineering overhead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F6FAFF"/>
                </a:solidFill>
              </a:rPr>
              <a:t>• Keeps brand meaning tight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F6FAFF"/>
                </a:solidFill>
              </a:rPr>
              <a:t>• Lets trust and convenience evolve on one path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F6FAFF"/>
                </a:solidFill>
              </a:rPr>
              <a:t>• Prevents early audience confusion</a:t>
            </a:r>
            <a:endParaRPr lang="en-US" sz="1280" dirty="0"/>
          </a:p>
        </p:txBody>
      </p:sp>
      <p:sp>
        <p:nvSpPr>
          <p:cNvPr id="13" name="Text 11"/>
          <p:cNvSpPr/>
          <p:nvPr/>
        </p:nvSpPr>
        <p:spPr>
          <a:xfrm>
            <a:off x="4773168" y="4114800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1F0C7"/>
                </a:solidFill>
              </a:rPr>
              <a:t>When to reconsider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773168" y="4370832"/>
            <a:ext cx="22402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B9C5D9"/>
                </a:solidFill>
              </a:rPr>
              <a:t>• If enterprise / white-label emerges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B9C5D9"/>
                </a:solidFill>
              </a:rPr>
              <a:t>• If privacy-first users need very different economics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B9C5D9"/>
                </a:solidFill>
              </a:rPr>
              <a:t>• If hosted sync becomes the dominant entry point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7772400" y="1417320"/>
            <a:ext cx="3749040" cy="4434840"/>
          </a:xfrm>
          <a:prstGeom prst="roundRect">
            <a:avLst>
              <a:gd name="adj" fmla="val 1951"/>
            </a:avLst>
          </a:prstGeom>
          <a:solidFill>
            <a:srgbClr val="0B1E3D">
              <a:alpha val="88000"/>
            </a:srgbClr>
          </a:solidFill>
          <a:ln w="12700">
            <a:solidFill>
              <a:srgbClr val="24436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95260" y="1490472"/>
            <a:ext cx="36576" cy="4288536"/>
          </a:xfrm>
          <a:prstGeom prst="rect">
            <a:avLst/>
          </a:prstGeom>
          <a:solidFill>
            <a:srgbClr val="FF5DB7"/>
          </a:solidFill>
          <a:ln w="12700">
            <a:solidFill>
              <a:srgbClr val="FF5DB7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91856" y="168249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5DB7"/>
                </a:solidFill>
              </a:rPr>
              <a:t>Next 30 days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991856" y="2121408"/>
            <a:ext cx="3017520" cy="475488"/>
          </a:xfrm>
          <a:prstGeom prst="roundRect">
            <a:avLst>
              <a:gd name="adj" fmla="val 7692"/>
            </a:avLst>
          </a:prstGeom>
          <a:solidFill>
            <a:srgbClr val="0D2548"/>
          </a:solidFill>
          <a:ln w="12700">
            <a:solidFill>
              <a:srgbClr val="12D2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65592" y="2240280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2D2FF"/>
                </a:solidFill>
              </a:rPr>
              <a:t>01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8540496" y="2231136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F6FAFF"/>
                </a:solidFill>
              </a:rPr>
              <a:t>Lock core schema and adjustment v1</a:t>
            </a:r>
            <a:endParaRPr lang="en-US" sz="1130" dirty="0"/>
          </a:p>
        </p:txBody>
      </p:sp>
      <p:sp>
        <p:nvSpPr>
          <p:cNvPr id="21" name="Shape 19"/>
          <p:cNvSpPr/>
          <p:nvPr/>
        </p:nvSpPr>
        <p:spPr>
          <a:xfrm>
            <a:off x="7991856" y="2852928"/>
            <a:ext cx="3017520" cy="475488"/>
          </a:xfrm>
          <a:prstGeom prst="roundRect">
            <a:avLst>
              <a:gd name="adj" fmla="val 7692"/>
            </a:avLst>
          </a:prstGeom>
          <a:solidFill>
            <a:srgbClr val="0D2548"/>
          </a:solidFill>
          <a:ln w="12700">
            <a:solidFill>
              <a:srgbClr val="57A8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65592" y="2971800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57A8FF"/>
                </a:solidFill>
              </a:rPr>
              <a:t>02</a:t>
            </a:r>
            <a:endParaRPr lang="en-US" sz="1080" dirty="0"/>
          </a:p>
        </p:txBody>
      </p:sp>
      <p:sp>
        <p:nvSpPr>
          <p:cNvPr id="23" name="Text 21"/>
          <p:cNvSpPr/>
          <p:nvPr/>
        </p:nvSpPr>
        <p:spPr>
          <a:xfrm>
            <a:off x="8540496" y="2962656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F6FAFF"/>
                </a:solidFill>
              </a:rPr>
              <a:t>Polish the mobile trust loop and trip flow</a:t>
            </a:r>
            <a:endParaRPr lang="en-US" sz="1130" dirty="0"/>
          </a:p>
        </p:txBody>
      </p:sp>
      <p:sp>
        <p:nvSpPr>
          <p:cNvPr id="24" name="Shape 22"/>
          <p:cNvSpPr/>
          <p:nvPr/>
        </p:nvSpPr>
        <p:spPr>
          <a:xfrm>
            <a:off x="7991856" y="3584448"/>
            <a:ext cx="3017520" cy="475488"/>
          </a:xfrm>
          <a:prstGeom prst="roundRect">
            <a:avLst>
              <a:gd name="adj" fmla="val 7692"/>
            </a:avLst>
          </a:prstGeom>
          <a:solidFill>
            <a:srgbClr val="0D2548"/>
          </a:solidFill>
          <a:ln w="12700">
            <a:solidFill>
              <a:srgbClr val="F1C84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65592" y="3703320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F1C84B"/>
                </a:solidFill>
              </a:rPr>
              <a:t>03</a:t>
            </a:r>
            <a:endParaRPr lang="en-US" sz="1080" dirty="0"/>
          </a:p>
        </p:txBody>
      </p:sp>
      <p:sp>
        <p:nvSpPr>
          <p:cNvPr id="26" name="Text 24"/>
          <p:cNvSpPr/>
          <p:nvPr/>
        </p:nvSpPr>
        <p:spPr>
          <a:xfrm>
            <a:off x="8540496" y="3694176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F6FAFF"/>
                </a:solidFill>
              </a:rPr>
              <a:t>Ship privacy baseline and review pack</a:t>
            </a:r>
            <a:endParaRPr lang="en-US" sz="1130" dirty="0"/>
          </a:p>
        </p:txBody>
      </p:sp>
      <p:sp>
        <p:nvSpPr>
          <p:cNvPr id="27" name="Shape 25"/>
          <p:cNvSpPr/>
          <p:nvPr/>
        </p:nvSpPr>
        <p:spPr>
          <a:xfrm>
            <a:off x="7991856" y="4315968"/>
            <a:ext cx="3017520" cy="475488"/>
          </a:xfrm>
          <a:prstGeom prst="roundRect">
            <a:avLst>
              <a:gd name="adj" fmla="val 7692"/>
            </a:avLst>
          </a:prstGeom>
          <a:solidFill>
            <a:srgbClr val="0D2548"/>
          </a:solidFill>
          <a:ln w="12700">
            <a:solidFill>
              <a:srgbClr val="FF5DB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65592" y="4434840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FF5DB7"/>
                </a:solidFill>
              </a:rPr>
              <a:t>04</a:t>
            </a:r>
            <a:endParaRPr lang="en-US" sz="1080" dirty="0"/>
          </a:p>
        </p:txBody>
      </p:sp>
      <p:sp>
        <p:nvSpPr>
          <p:cNvPr id="29" name="Text 27"/>
          <p:cNvSpPr/>
          <p:nvPr/>
        </p:nvSpPr>
        <p:spPr>
          <a:xfrm>
            <a:off x="8540496" y="4425696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F6FAFF"/>
                </a:solidFill>
              </a:rPr>
              <a:t>Start HealthKit / Health Connect evaluation</a:t>
            </a:r>
            <a:endParaRPr lang="en-US" sz="1130" dirty="0"/>
          </a:p>
        </p:txBody>
      </p:sp>
      <p:sp>
        <p:nvSpPr>
          <p:cNvPr id="30" name="Text 28"/>
          <p:cNvSpPr/>
          <p:nvPr/>
        </p:nvSpPr>
        <p:spPr>
          <a:xfrm>
            <a:off x="7991856" y="5266944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i="1" dirty="0">
                <a:solidFill>
                  <a:srgbClr val="B9C5D9"/>
                </a:solidFill>
              </a:rPr>
              <a:t>This sequencing keeps the roadmap ambitious without becoming scattered.</a:t>
            </a:r>
            <a:endParaRPr lang="en-US" sz="11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28232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F90A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 PENS – Multidimensional Roadmap</dc:title>
  <dc:subject>MY PENS multidimensional roadmap</dc:subject>
  <dc:creator>OpenAI</dc:creator>
  <cp:lastModifiedBy>OpenAI</cp:lastModifiedBy>
  <cp:revision>1</cp:revision>
  <dcterms:created xsi:type="dcterms:W3CDTF">2026-03-27T07:12:02Z</dcterms:created>
  <dcterms:modified xsi:type="dcterms:W3CDTF">2026-03-27T07:12:02Z</dcterms:modified>
</cp:coreProperties>
</file>